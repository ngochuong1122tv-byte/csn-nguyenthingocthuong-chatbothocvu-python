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256" r:id="rId2"/>
    <p:sldId id="257" r:id="rId3"/>
    <p:sldId id="258" r:id="rId4"/>
    <p:sldId id="259" r:id="rId5"/>
    <p:sldId id="260" r:id="rId6"/>
    <p:sldId id="261" r:id="rId7"/>
    <p:sldId id="273" r:id="rId8"/>
    <p:sldId id="274" r:id="rId9"/>
    <p:sldId id="272" r:id="rId10"/>
    <p:sldId id="269" r:id="rId11"/>
    <p:sldId id="275" r:id="rId12"/>
    <p:sldId id="276"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72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44CA8D-E2B3-4895-BC1F-7F926701FCEB}" type="datetimeFigureOut">
              <a:rPr lang="en-US" smtClean="0"/>
              <a:t>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216754-810A-46AC-A6DC-66407EE2FC6C}" type="slidenum">
              <a:rPr lang="en-US" smtClean="0"/>
              <a:t>‹#›</a:t>
            </a:fld>
            <a:endParaRPr lang="en-US"/>
          </a:p>
        </p:txBody>
      </p:sp>
    </p:spTree>
    <p:extLst>
      <p:ext uri="{BB962C8B-B14F-4D97-AF65-F5344CB8AC3E}">
        <p14:creationId xmlns:p14="http://schemas.microsoft.com/office/powerpoint/2010/main" val="762769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216754-810A-46AC-A6DC-66407EE2FC6C}" type="slidenum">
              <a:rPr lang="en-US" smtClean="0"/>
              <a:t>8</a:t>
            </a:fld>
            <a:endParaRPr lang="en-US"/>
          </a:p>
        </p:txBody>
      </p:sp>
    </p:spTree>
    <p:extLst>
      <p:ext uri="{BB962C8B-B14F-4D97-AF65-F5344CB8AC3E}">
        <p14:creationId xmlns:p14="http://schemas.microsoft.com/office/powerpoint/2010/main" val="3195668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37208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73175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5537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58388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51820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726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66927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36011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45841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9689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142248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24132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523070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32414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478080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17395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1/5/2026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9126485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491" y="2414584"/>
            <a:ext cx="8839200" cy="1470025"/>
          </a:xfrm>
        </p:spPr>
        <p:txBody>
          <a:bodyPr>
            <a:noAutofit/>
          </a:bodyPr>
          <a:lstStyle/>
          <a:p>
            <a:r>
              <a:rPr lang="en-US" sz="3400" b="1" dirty="0">
                <a:latin typeface="Arial" panose="020B0604020202020204" pitchFamily="34" charset="0"/>
                <a:cs typeface="Arial" panose="020B0604020202020204" pitchFamily="34" charset="0"/>
              </a:rPr>
              <a:t>TÌM HIỂU RASA VÀ XÂY DỰNG CHATBOT TƯ VẤN HỌC VỤ CHO </a:t>
            </a:r>
            <a:br>
              <a:rPr lang="en-US" sz="3400" b="1" dirty="0">
                <a:latin typeface="Arial" panose="020B0604020202020204" pitchFamily="34" charset="0"/>
                <a:cs typeface="Arial" panose="020B0604020202020204" pitchFamily="34" charset="0"/>
              </a:rPr>
            </a:br>
            <a:r>
              <a:rPr lang="en-US" sz="3400" b="1" dirty="0">
                <a:latin typeface="Arial" panose="020B0604020202020204" pitchFamily="34" charset="0"/>
                <a:cs typeface="Arial" panose="020B0604020202020204" pitchFamily="34" charset="0"/>
              </a:rPr>
              <a:t>SINH VIÊN TRƯỜNG ĐẠI HỌC TRÀ  VINH</a:t>
            </a:r>
            <a:endParaRPr sz="3400" b="1"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755923" y="5027682"/>
            <a:ext cx="5171768" cy="1170369"/>
          </a:xfrm>
        </p:spPr>
        <p:txBody>
          <a:bodyPr>
            <a:normAutofit/>
          </a:bodyPr>
          <a:lstStyle/>
          <a:p>
            <a:r>
              <a:rPr sz="1800" dirty="0">
                <a:solidFill>
                  <a:schemeClr val="tx1"/>
                </a:solidFill>
                <a:latin typeface="Arial" panose="020B0604020202020204" pitchFamily="34" charset="0"/>
                <a:cs typeface="Arial" panose="020B0604020202020204" pitchFamily="34" charset="0"/>
              </a:rPr>
              <a:t>Sinh </a:t>
            </a:r>
            <a:r>
              <a:rPr sz="1800" dirty="0" err="1">
                <a:solidFill>
                  <a:schemeClr val="tx1"/>
                </a:solidFill>
                <a:latin typeface="Arial" panose="020B0604020202020204" pitchFamily="34" charset="0"/>
                <a:cs typeface="Arial" panose="020B0604020202020204" pitchFamily="34" charset="0"/>
              </a:rPr>
              <a:t>viên</a:t>
            </a:r>
            <a:r>
              <a:rPr lang="en-US" sz="1800" dirty="0">
                <a:solidFill>
                  <a:schemeClr val="tx1"/>
                </a:solidFill>
                <a:latin typeface="Arial" panose="020B0604020202020204" pitchFamily="34" charset="0"/>
                <a:cs typeface="Arial" panose="020B0604020202020204" pitchFamily="34" charset="0"/>
              </a:rPr>
              <a:t> </a:t>
            </a:r>
            <a:r>
              <a:rPr lang="en-US" sz="1800" dirty="0" err="1">
                <a:solidFill>
                  <a:schemeClr val="tx1"/>
                </a:solidFill>
                <a:latin typeface="Arial" panose="020B0604020202020204" pitchFamily="34" charset="0"/>
                <a:cs typeface="Arial" panose="020B0604020202020204" pitchFamily="34" charset="0"/>
              </a:rPr>
              <a:t>thực</a:t>
            </a:r>
            <a:r>
              <a:rPr lang="en-US" sz="1800" dirty="0">
                <a:solidFill>
                  <a:schemeClr val="tx1"/>
                </a:solidFill>
                <a:latin typeface="Arial" panose="020B0604020202020204" pitchFamily="34" charset="0"/>
                <a:cs typeface="Arial" panose="020B0604020202020204" pitchFamily="34" charset="0"/>
              </a:rPr>
              <a:t> </a:t>
            </a:r>
            <a:r>
              <a:rPr lang="en-US" sz="1800" dirty="0" err="1">
                <a:solidFill>
                  <a:schemeClr val="tx1"/>
                </a:solidFill>
                <a:latin typeface="Arial" panose="020B0604020202020204" pitchFamily="34" charset="0"/>
                <a:cs typeface="Arial" panose="020B0604020202020204" pitchFamily="34" charset="0"/>
              </a:rPr>
              <a:t>hiện</a:t>
            </a:r>
            <a:r>
              <a:rPr sz="1800" dirty="0">
                <a:solidFill>
                  <a:schemeClr val="tx1"/>
                </a:solidFill>
                <a:latin typeface="Arial" panose="020B0604020202020204" pitchFamily="34" charset="0"/>
                <a:cs typeface="Arial" panose="020B0604020202020204" pitchFamily="34" charset="0"/>
              </a:rPr>
              <a:t>: </a:t>
            </a:r>
            <a:endParaRPr lang="en-US" sz="1800" dirty="0">
              <a:solidFill>
                <a:schemeClr val="tx1"/>
              </a:solidFill>
              <a:latin typeface="Arial" panose="020B0604020202020204" pitchFamily="34" charset="0"/>
              <a:cs typeface="Arial" panose="020B0604020202020204" pitchFamily="34" charset="0"/>
            </a:endParaRPr>
          </a:p>
          <a:p>
            <a:r>
              <a:rPr sz="1800" dirty="0">
                <a:solidFill>
                  <a:schemeClr val="tx1"/>
                </a:solidFill>
                <a:latin typeface="Arial" panose="020B0604020202020204" pitchFamily="34" charset="0"/>
                <a:cs typeface="Arial" panose="020B0604020202020204" pitchFamily="34" charset="0"/>
              </a:rPr>
              <a:t>Nguyễn Thị Ngọc Thương</a:t>
            </a:r>
          </a:p>
          <a:p>
            <a:r>
              <a:rPr lang="en-US" sz="1800" dirty="0">
                <a:solidFill>
                  <a:schemeClr val="tx1"/>
                </a:solidFill>
                <a:latin typeface="Arial" panose="020B0604020202020204" pitchFamily="34" charset="0"/>
                <a:cs typeface="Arial" panose="020B0604020202020204" pitchFamily="34" charset="0"/>
              </a:rPr>
              <a:t>DA23TTB - 110123053</a:t>
            </a:r>
            <a:endParaRPr sz="1800" dirty="0">
              <a:solidFill>
                <a:schemeClr val="tx1"/>
              </a:solidFill>
              <a:latin typeface="Arial" panose="020B0604020202020204" pitchFamily="34" charset="0"/>
              <a:cs typeface="Arial" panose="020B0604020202020204" pitchFamily="34" charset="0"/>
            </a:endParaRPr>
          </a:p>
        </p:txBody>
      </p:sp>
      <p:grpSp>
        <p:nvGrpSpPr>
          <p:cNvPr id="4" name="Group 3">
            <a:extLst>
              <a:ext uri="{FF2B5EF4-FFF2-40B4-BE49-F238E27FC236}">
                <a16:creationId xmlns:a16="http://schemas.microsoft.com/office/drawing/2014/main" id="{D9677C21-D0E3-C948-DC53-C7EEC2E5BE3E}"/>
              </a:ext>
            </a:extLst>
          </p:cNvPr>
          <p:cNvGrpSpPr/>
          <p:nvPr/>
        </p:nvGrpSpPr>
        <p:grpSpPr>
          <a:xfrm>
            <a:off x="296323" y="0"/>
            <a:ext cx="1521000" cy="1521000"/>
            <a:chOff x="0" y="0"/>
            <a:chExt cx="2028000" cy="2028000"/>
          </a:xfrm>
        </p:grpSpPr>
        <p:sp>
          <p:nvSpPr>
            <p:cNvPr id="5" name="Freeform 4">
              <a:extLst>
                <a:ext uri="{FF2B5EF4-FFF2-40B4-BE49-F238E27FC236}">
                  <a16:creationId xmlns:a16="http://schemas.microsoft.com/office/drawing/2014/main" id="{66104216-925A-2D5C-B2BA-4070C21A114A}"/>
                </a:ext>
              </a:extLst>
            </p:cNvPr>
            <p:cNvSpPr/>
            <p:nvPr/>
          </p:nvSpPr>
          <p:spPr>
            <a:xfrm>
              <a:off x="0" y="0"/>
              <a:ext cx="2028063" cy="2028063"/>
            </a:xfrm>
            <a:custGeom>
              <a:avLst/>
              <a:gdLst/>
              <a:ahLst/>
              <a:cxnLst/>
              <a:rect l="l" t="t" r="r" b="b"/>
              <a:pathLst>
                <a:path w="2028063" h="2028063">
                  <a:moveTo>
                    <a:pt x="0" y="0"/>
                  </a:moveTo>
                  <a:lnTo>
                    <a:pt x="2028063" y="0"/>
                  </a:lnTo>
                  <a:lnTo>
                    <a:pt x="2028063" y="2028063"/>
                  </a:lnTo>
                  <a:lnTo>
                    <a:pt x="0" y="2028063"/>
                  </a:lnTo>
                  <a:lnTo>
                    <a:pt x="0" y="0"/>
                  </a:lnTo>
                  <a:close/>
                </a:path>
              </a:pathLst>
            </a:custGeom>
            <a:blipFill>
              <a:blip r:embed="rId2"/>
              <a:stretch>
                <a:fillRect r="3" b="3"/>
              </a:stretch>
            </a:blipFill>
          </p:spPr>
          <p:txBody>
            <a:bodyPr/>
            <a:lstStyle/>
            <a:p>
              <a:endParaRPr lang="vi-VN" noProof="0" dirty="0"/>
            </a:p>
          </p:txBody>
        </p:sp>
      </p:grpSp>
      <p:sp>
        <p:nvSpPr>
          <p:cNvPr id="6" name="TextBox 5">
            <a:extLst>
              <a:ext uri="{FF2B5EF4-FFF2-40B4-BE49-F238E27FC236}">
                <a16:creationId xmlns:a16="http://schemas.microsoft.com/office/drawing/2014/main" id="{04B5B5FE-E0F1-CE17-4D1D-F6674EDC5582}"/>
              </a:ext>
            </a:extLst>
          </p:cNvPr>
          <p:cNvSpPr txBox="1"/>
          <p:nvPr/>
        </p:nvSpPr>
        <p:spPr>
          <a:xfrm>
            <a:off x="1711472" y="327253"/>
            <a:ext cx="6659432" cy="359073"/>
          </a:xfrm>
          <a:prstGeom prst="rect">
            <a:avLst/>
          </a:prstGeom>
        </p:spPr>
        <p:txBody>
          <a:bodyPr lIns="0" tIns="0" rIns="0" bIns="0" rtlCol="0" anchor="t">
            <a:spAutoFit/>
          </a:bodyPr>
          <a:lstStyle/>
          <a:p>
            <a:pPr algn="ctr">
              <a:lnSpc>
                <a:spcPts val="2799"/>
              </a:lnSpc>
            </a:pPr>
            <a:r>
              <a:rPr lang="vi-VN" sz="3200" b="1" noProof="0" dirty="0">
                <a:solidFill>
                  <a:srgbClr val="053484"/>
                </a:solidFill>
                <a:latin typeface="Tahoma Bold"/>
                <a:ea typeface="Tahoma Bold"/>
                <a:cs typeface="Tahoma Bold"/>
                <a:sym typeface="Tahoma Bold"/>
              </a:rPr>
              <a:t>Trường Kỹ thuật và Công nghệ</a:t>
            </a:r>
          </a:p>
        </p:txBody>
      </p:sp>
      <p:sp>
        <p:nvSpPr>
          <p:cNvPr id="7" name="TextBox 6">
            <a:extLst>
              <a:ext uri="{FF2B5EF4-FFF2-40B4-BE49-F238E27FC236}">
                <a16:creationId xmlns:a16="http://schemas.microsoft.com/office/drawing/2014/main" id="{3B2E0652-0C9C-95C7-DC9C-AEF6342DBAC4}"/>
              </a:ext>
            </a:extLst>
          </p:cNvPr>
          <p:cNvSpPr txBox="1"/>
          <p:nvPr/>
        </p:nvSpPr>
        <p:spPr>
          <a:xfrm>
            <a:off x="1925293" y="796216"/>
            <a:ext cx="5786990" cy="359073"/>
          </a:xfrm>
          <a:prstGeom prst="rect">
            <a:avLst/>
          </a:prstGeom>
        </p:spPr>
        <p:txBody>
          <a:bodyPr lIns="0" tIns="0" rIns="0" bIns="0" rtlCol="0" anchor="t">
            <a:spAutoFit/>
          </a:bodyPr>
          <a:lstStyle/>
          <a:p>
            <a:pPr algn="ctr">
              <a:lnSpc>
                <a:spcPts val="2799"/>
              </a:lnSpc>
            </a:pPr>
            <a:r>
              <a:rPr lang="vi-VN" sz="2400" b="1" noProof="0" dirty="0">
                <a:solidFill>
                  <a:srgbClr val="053484"/>
                </a:solidFill>
                <a:latin typeface="Tahoma Bold"/>
                <a:ea typeface="Tahoma Bold"/>
                <a:cs typeface="Tahoma Bold"/>
                <a:sym typeface="Tahoma Bold"/>
              </a:rPr>
              <a:t>Khoa Công nghệ thông tin</a:t>
            </a:r>
          </a:p>
        </p:txBody>
      </p:sp>
      <p:sp>
        <p:nvSpPr>
          <p:cNvPr id="13" name="TextBox 12">
            <a:extLst>
              <a:ext uri="{FF2B5EF4-FFF2-40B4-BE49-F238E27FC236}">
                <a16:creationId xmlns:a16="http://schemas.microsoft.com/office/drawing/2014/main" id="{54D67C03-B1D2-3FB6-5934-FE23E7FDC9A2}"/>
              </a:ext>
            </a:extLst>
          </p:cNvPr>
          <p:cNvSpPr txBox="1"/>
          <p:nvPr/>
        </p:nvSpPr>
        <p:spPr>
          <a:xfrm>
            <a:off x="-44244" y="5027682"/>
            <a:ext cx="4616244" cy="745717"/>
          </a:xfrm>
          <a:prstGeom prst="rect">
            <a:avLst/>
          </a:prstGeom>
          <a:noFill/>
        </p:spPr>
        <p:txBody>
          <a:bodyPr wrap="square">
            <a:spAutoFit/>
          </a:bodyPr>
          <a:lstStyle/>
          <a:p>
            <a:pPr algn="ctr">
              <a:lnSpc>
                <a:spcPts val="2722"/>
              </a:lnSpc>
            </a:pPr>
            <a:r>
              <a:rPr lang="vi-VN" sz="1800" noProof="0" dirty="0">
                <a:solidFill>
                  <a:srgbClr val="000000"/>
                </a:solidFill>
                <a:latin typeface="Tahoma"/>
                <a:ea typeface="Tahoma"/>
                <a:cs typeface="Tahoma"/>
                <a:sym typeface="Tahoma"/>
              </a:rPr>
              <a:t>Giáo viên hướng dẫn </a:t>
            </a:r>
          </a:p>
          <a:p>
            <a:pPr algn="ctr">
              <a:lnSpc>
                <a:spcPts val="2722"/>
              </a:lnSpc>
            </a:pPr>
            <a:r>
              <a:rPr lang="vi-VN" sz="1800" noProof="0" dirty="0" err="1">
                <a:solidFill>
                  <a:srgbClr val="000000"/>
                </a:solidFill>
                <a:latin typeface="Tahoma"/>
                <a:ea typeface="Tahoma"/>
                <a:cs typeface="Tahoma"/>
                <a:sym typeface="Tahoma"/>
              </a:rPr>
              <a:t>ThS</a:t>
            </a:r>
            <a:r>
              <a:rPr lang="vi-VN" sz="1800" noProof="0" dirty="0">
                <a:solidFill>
                  <a:srgbClr val="000000"/>
                </a:solidFill>
                <a:latin typeface="Tahoma"/>
                <a:ea typeface="Tahoma"/>
                <a:cs typeface="Tahoma"/>
                <a:sym typeface="Tahoma"/>
              </a:rPr>
              <a:t>.</a:t>
            </a:r>
            <a:r>
              <a:rPr lang="en-US" dirty="0">
                <a:solidFill>
                  <a:srgbClr val="000000"/>
                </a:solidFill>
                <a:latin typeface="Tahoma"/>
                <a:ea typeface="Tahoma"/>
                <a:cs typeface="Tahoma"/>
                <a:sym typeface="Tahoma"/>
              </a:rPr>
              <a:t>Phạm Thị Trúc Mai</a:t>
            </a:r>
            <a:endParaRPr lang="vi-VN" sz="1800" noProof="0" dirty="0">
              <a:solidFill>
                <a:srgbClr val="000000"/>
              </a:solidFill>
              <a:latin typeface="Tahoma"/>
              <a:ea typeface="Tahoma"/>
              <a:cs typeface="Tahoma"/>
              <a:sym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5">
            <a:extLst>
              <a:ext uri="{FF2B5EF4-FFF2-40B4-BE49-F238E27FC236}">
                <a16:creationId xmlns:a16="http://schemas.microsoft.com/office/drawing/2014/main" id="{944BE149-5148-AF69-570B-4086FB7D254C}"/>
              </a:ext>
            </a:extLst>
          </p:cNvPr>
          <p:cNvSpPr txBox="1"/>
          <p:nvPr/>
        </p:nvSpPr>
        <p:spPr>
          <a:xfrm>
            <a:off x="2455526" y="2614079"/>
            <a:ext cx="5936113" cy="487309"/>
          </a:xfrm>
          <a:prstGeom prst="rect">
            <a:avLst/>
          </a:prstGeom>
        </p:spPr>
        <p:txBody>
          <a:bodyPr lIns="0" tIns="0" rIns="0" bIns="0" rtlCol="0" anchor="t">
            <a:spAutoFit/>
          </a:bodyPr>
          <a:lstStyle/>
          <a:p>
            <a:pPr algn="l">
              <a:lnSpc>
                <a:spcPts val="3831"/>
              </a:lnSpc>
            </a:pPr>
            <a:r>
              <a:rPr lang="vi-VN" sz="3200" b="1" noProof="0" dirty="0">
                <a:solidFill>
                  <a:srgbClr val="000000"/>
                </a:solidFill>
                <a:latin typeface="Tahoma Bold"/>
                <a:ea typeface="Tahoma Bold"/>
                <a:cs typeface="Tahoma Bold"/>
                <a:sym typeface="Tahoma Bold"/>
              </a:rPr>
              <a:t>II. Lý thuyết </a:t>
            </a:r>
          </a:p>
        </p:txBody>
      </p:sp>
      <p:sp>
        <p:nvSpPr>
          <p:cNvPr id="19" name="TextBox 6">
            <a:extLst>
              <a:ext uri="{FF2B5EF4-FFF2-40B4-BE49-F238E27FC236}">
                <a16:creationId xmlns:a16="http://schemas.microsoft.com/office/drawing/2014/main" id="{3902F6FA-7F61-754F-17B3-483C39344F0A}"/>
              </a:ext>
            </a:extLst>
          </p:cNvPr>
          <p:cNvSpPr txBox="1"/>
          <p:nvPr/>
        </p:nvSpPr>
        <p:spPr>
          <a:xfrm>
            <a:off x="2455526" y="3505267"/>
            <a:ext cx="5936113" cy="487309"/>
          </a:xfrm>
          <a:prstGeom prst="rect">
            <a:avLst/>
          </a:prstGeom>
        </p:spPr>
        <p:txBody>
          <a:bodyPr lIns="0" tIns="0" rIns="0" bIns="0" rtlCol="0" anchor="t">
            <a:spAutoFit/>
          </a:bodyPr>
          <a:lstStyle/>
          <a:p>
            <a:pPr algn="l">
              <a:lnSpc>
                <a:spcPts val="3831"/>
              </a:lnSpc>
            </a:pPr>
            <a:r>
              <a:rPr lang="vi-VN" sz="3200" b="1" noProof="0" dirty="0">
                <a:solidFill>
                  <a:srgbClr val="000000"/>
                </a:solidFill>
                <a:latin typeface="Tahoma Bold"/>
                <a:ea typeface="Tahoma Bold"/>
                <a:cs typeface="Tahoma Bold"/>
                <a:sym typeface="Tahoma Bold"/>
              </a:rPr>
              <a:t>III. Kết quả đạt được</a:t>
            </a:r>
          </a:p>
        </p:txBody>
      </p:sp>
      <p:sp>
        <p:nvSpPr>
          <p:cNvPr id="20" name="TextBox 7">
            <a:extLst>
              <a:ext uri="{FF2B5EF4-FFF2-40B4-BE49-F238E27FC236}">
                <a16:creationId xmlns:a16="http://schemas.microsoft.com/office/drawing/2014/main" id="{4F30D337-5959-A902-7301-10838515512F}"/>
              </a:ext>
            </a:extLst>
          </p:cNvPr>
          <p:cNvSpPr txBox="1"/>
          <p:nvPr/>
        </p:nvSpPr>
        <p:spPr>
          <a:xfrm>
            <a:off x="2473452" y="1682401"/>
            <a:ext cx="4603490" cy="531628"/>
          </a:xfrm>
          <a:prstGeom prst="rect">
            <a:avLst/>
          </a:prstGeom>
        </p:spPr>
        <p:txBody>
          <a:bodyPr lIns="0" tIns="0" rIns="0" bIns="0" rtlCol="0" anchor="t">
            <a:spAutoFit/>
          </a:bodyPr>
          <a:lstStyle/>
          <a:p>
            <a:pPr algn="l">
              <a:lnSpc>
                <a:spcPts val="4251"/>
              </a:lnSpc>
            </a:pPr>
            <a:r>
              <a:rPr lang="vi-VN" sz="3200" b="1" noProof="0" dirty="0">
                <a:solidFill>
                  <a:srgbClr val="000000"/>
                </a:solidFill>
                <a:latin typeface="Tahoma Bold"/>
                <a:ea typeface="Tahoma Bold"/>
                <a:cs typeface="Tahoma Bold"/>
                <a:sym typeface="Tahoma Bold"/>
              </a:rPr>
              <a:t>I. Lý do chọn đề tài</a:t>
            </a:r>
          </a:p>
        </p:txBody>
      </p:sp>
      <p:sp>
        <p:nvSpPr>
          <p:cNvPr id="21" name="TextBox 8">
            <a:extLst>
              <a:ext uri="{FF2B5EF4-FFF2-40B4-BE49-F238E27FC236}">
                <a16:creationId xmlns:a16="http://schemas.microsoft.com/office/drawing/2014/main" id="{BD1A3191-6CE9-9AA3-A2AF-13A56E6F5217}"/>
              </a:ext>
            </a:extLst>
          </p:cNvPr>
          <p:cNvSpPr txBox="1"/>
          <p:nvPr/>
        </p:nvSpPr>
        <p:spPr>
          <a:xfrm>
            <a:off x="2019195" y="631974"/>
            <a:ext cx="5436699" cy="689562"/>
          </a:xfrm>
          <a:prstGeom prst="rect">
            <a:avLst/>
          </a:prstGeom>
        </p:spPr>
        <p:txBody>
          <a:bodyPr lIns="0" tIns="0" rIns="0" bIns="0" rtlCol="0" anchor="t">
            <a:spAutoFit/>
          </a:bodyPr>
          <a:lstStyle/>
          <a:p>
            <a:pPr algn="ctr">
              <a:lnSpc>
                <a:spcPts val="5498"/>
              </a:lnSpc>
            </a:pPr>
            <a:r>
              <a:rPr lang="vi-VN" sz="4000" b="1" noProof="0" dirty="0">
                <a:solidFill>
                  <a:srgbClr val="000000"/>
                </a:solidFill>
                <a:latin typeface="Tahoma Bold"/>
                <a:ea typeface="Tahoma Bold"/>
                <a:cs typeface="Tahoma Bold"/>
                <a:sym typeface="Tahoma Bold"/>
              </a:rPr>
              <a:t>NỘI DUNG BÁO CÁO</a:t>
            </a:r>
          </a:p>
        </p:txBody>
      </p:sp>
      <p:sp>
        <p:nvSpPr>
          <p:cNvPr id="22" name="TextBox 9">
            <a:extLst>
              <a:ext uri="{FF2B5EF4-FFF2-40B4-BE49-F238E27FC236}">
                <a16:creationId xmlns:a16="http://schemas.microsoft.com/office/drawing/2014/main" id="{CA6063D8-C610-3CF2-4917-7F2386E5592A}"/>
              </a:ext>
            </a:extLst>
          </p:cNvPr>
          <p:cNvSpPr txBox="1"/>
          <p:nvPr/>
        </p:nvSpPr>
        <p:spPr>
          <a:xfrm>
            <a:off x="2474576" y="4393931"/>
            <a:ext cx="5936113" cy="487309"/>
          </a:xfrm>
          <a:prstGeom prst="rect">
            <a:avLst/>
          </a:prstGeom>
        </p:spPr>
        <p:txBody>
          <a:bodyPr lIns="0" tIns="0" rIns="0" bIns="0" rtlCol="0" anchor="t">
            <a:spAutoFit/>
          </a:bodyPr>
          <a:lstStyle/>
          <a:p>
            <a:pPr algn="l">
              <a:lnSpc>
                <a:spcPts val="3831"/>
              </a:lnSpc>
            </a:pPr>
            <a:r>
              <a:rPr lang="vi-VN" sz="3200" b="1" noProof="0" dirty="0">
                <a:solidFill>
                  <a:srgbClr val="000000"/>
                </a:solidFill>
                <a:latin typeface="Tahoma Bold"/>
                <a:ea typeface="Tahoma Bold"/>
                <a:cs typeface="Tahoma Bold"/>
                <a:sym typeface="Tahoma Bold"/>
              </a:rPr>
              <a:t>IV. Hướng phát triển</a:t>
            </a:r>
          </a:p>
        </p:txBody>
      </p:sp>
      <p:sp>
        <p:nvSpPr>
          <p:cNvPr id="27" name="TextBox 26">
            <a:extLst>
              <a:ext uri="{FF2B5EF4-FFF2-40B4-BE49-F238E27FC236}">
                <a16:creationId xmlns:a16="http://schemas.microsoft.com/office/drawing/2014/main" id="{79E5BBFC-79CF-4D8A-B0FE-CC88574E0C7E}"/>
              </a:ext>
            </a:extLst>
          </p:cNvPr>
          <p:cNvSpPr txBox="1"/>
          <p:nvPr/>
        </p:nvSpPr>
        <p:spPr>
          <a:xfrm>
            <a:off x="2451543" y="5175599"/>
            <a:ext cx="5797721" cy="579646"/>
          </a:xfrm>
          <a:prstGeom prst="rect">
            <a:avLst/>
          </a:prstGeom>
          <a:noFill/>
        </p:spPr>
        <p:txBody>
          <a:bodyPr wrap="square">
            <a:spAutoFit/>
          </a:bodyPr>
          <a:lstStyle/>
          <a:p>
            <a:pPr algn="l">
              <a:lnSpc>
                <a:spcPts val="3831"/>
              </a:lnSpc>
            </a:pPr>
            <a:r>
              <a:rPr lang="vi-VN" sz="3200" b="1" noProof="0" dirty="0">
                <a:solidFill>
                  <a:srgbClr val="000000"/>
                </a:solidFill>
                <a:latin typeface="Tahoma Bold"/>
                <a:ea typeface="Tahoma Bold"/>
                <a:cs typeface="Tahoma Bold"/>
                <a:sym typeface="Tahoma Bold"/>
              </a:rPr>
              <a:t>V. </a:t>
            </a:r>
            <a:r>
              <a:rPr lang="en-US" sz="3200" b="1" noProof="0" dirty="0" err="1">
                <a:solidFill>
                  <a:srgbClr val="000000"/>
                </a:solidFill>
                <a:latin typeface="Tahoma Bold"/>
                <a:ea typeface="Tahoma Bold"/>
                <a:cs typeface="Tahoma Bold"/>
                <a:sym typeface="Tahoma Bold"/>
              </a:rPr>
              <a:t>Ưu</a:t>
            </a:r>
            <a:r>
              <a:rPr lang="en-US" sz="3200" b="1" noProof="0" dirty="0">
                <a:solidFill>
                  <a:srgbClr val="000000"/>
                </a:solidFill>
                <a:latin typeface="Tahoma Bold"/>
                <a:ea typeface="Tahoma Bold"/>
                <a:cs typeface="Tahoma Bold"/>
                <a:sym typeface="Tahoma Bold"/>
              </a:rPr>
              <a:t> </a:t>
            </a:r>
            <a:r>
              <a:rPr lang="en-US" sz="3200" b="1" noProof="0" dirty="0" err="1">
                <a:solidFill>
                  <a:srgbClr val="000000"/>
                </a:solidFill>
                <a:latin typeface="Tahoma Bold"/>
                <a:ea typeface="Tahoma Bold"/>
                <a:cs typeface="Tahoma Bold"/>
                <a:sym typeface="Tahoma Bold"/>
              </a:rPr>
              <a:t>điểm</a:t>
            </a:r>
            <a:r>
              <a:rPr lang="en-US" sz="3200" b="1" noProof="0" dirty="0">
                <a:solidFill>
                  <a:srgbClr val="000000"/>
                </a:solidFill>
                <a:latin typeface="Tahoma Bold"/>
                <a:ea typeface="Tahoma Bold"/>
                <a:cs typeface="Tahoma Bold"/>
                <a:sym typeface="Tahoma Bold"/>
              </a:rPr>
              <a:t> </a:t>
            </a:r>
            <a:r>
              <a:rPr lang="en-US" sz="3200" b="1" noProof="0" dirty="0" err="1">
                <a:solidFill>
                  <a:srgbClr val="000000"/>
                </a:solidFill>
                <a:latin typeface="Tahoma Bold"/>
                <a:ea typeface="Tahoma Bold"/>
                <a:cs typeface="Tahoma Bold"/>
                <a:sym typeface="Tahoma Bold"/>
              </a:rPr>
              <a:t>và</a:t>
            </a:r>
            <a:r>
              <a:rPr lang="en-US" sz="3200" b="1" noProof="0" dirty="0">
                <a:solidFill>
                  <a:srgbClr val="000000"/>
                </a:solidFill>
                <a:latin typeface="Tahoma Bold"/>
                <a:ea typeface="Tahoma Bold"/>
                <a:cs typeface="Tahoma Bold"/>
                <a:sym typeface="Tahoma Bold"/>
              </a:rPr>
              <a:t> </a:t>
            </a:r>
            <a:r>
              <a:rPr lang="en-US" sz="3200" b="1" noProof="0" dirty="0" err="1">
                <a:solidFill>
                  <a:srgbClr val="000000"/>
                </a:solidFill>
                <a:latin typeface="Tahoma Bold"/>
                <a:ea typeface="Tahoma Bold"/>
                <a:cs typeface="Tahoma Bold"/>
                <a:sym typeface="Tahoma Bold"/>
              </a:rPr>
              <a:t>nhược</a:t>
            </a:r>
            <a:r>
              <a:rPr lang="en-US" sz="3200" b="1" noProof="0" dirty="0">
                <a:solidFill>
                  <a:srgbClr val="000000"/>
                </a:solidFill>
                <a:latin typeface="Tahoma Bold"/>
                <a:ea typeface="Tahoma Bold"/>
                <a:cs typeface="Tahoma Bold"/>
                <a:sym typeface="Tahoma Bold"/>
              </a:rPr>
              <a:t> </a:t>
            </a:r>
            <a:r>
              <a:rPr lang="en-US" sz="3200" b="1" noProof="0" dirty="0" err="1">
                <a:solidFill>
                  <a:srgbClr val="000000"/>
                </a:solidFill>
                <a:latin typeface="Tahoma Bold"/>
                <a:ea typeface="Tahoma Bold"/>
                <a:cs typeface="Tahoma Bold"/>
                <a:sym typeface="Tahoma Bold"/>
              </a:rPr>
              <a:t>điểm</a:t>
            </a:r>
            <a:endParaRPr lang="vi-VN" sz="3200" b="1" noProof="0" dirty="0">
              <a:solidFill>
                <a:srgbClr val="000000"/>
              </a:solidFill>
              <a:latin typeface="Tahoma Bold"/>
              <a:ea typeface="Tahoma Bold"/>
              <a:cs typeface="Tahoma Bold"/>
              <a:sym typeface="Tahoma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vi-VN" b="1" dirty="0">
                <a:solidFill>
                  <a:srgbClr val="000000"/>
                </a:solidFill>
                <a:latin typeface="Tahoma Bold"/>
                <a:ea typeface="Tahoma Bold"/>
                <a:cs typeface="Tahoma Bold"/>
                <a:sym typeface="Tahoma Bold"/>
              </a:rPr>
              <a:t>I. Lý do chọn đề tài</a:t>
            </a:r>
            <a:endParaRPr dirty="0"/>
          </a:p>
        </p:txBody>
      </p:sp>
      <p:sp>
        <p:nvSpPr>
          <p:cNvPr id="3" name="Content Placeholder 2"/>
          <p:cNvSpPr>
            <a:spLocks noGrp="1"/>
          </p:cNvSpPr>
          <p:nvPr>
            <p:ph idx="1"/>
          </p:nvPr>
        </p:nvSpPr>
        <p:spPr/>
        <p:txBody>
          <a:bodyPr>
            <a:normAutofit lnSpcReduction="10000"/>
          </a:bodyPr>
          <a:lstStyle/>
          <a:p>
            <a:pPr marL="514350" indent="-514350" algn="just">
              <a:buAutoNum type="arabicPeriod"/>
            </a:pPr>
            <a:r>
              <a:rPr lang="vi-VN" sz="2200" dirty="0"/>
              <a:t>Nhu cầu tra cứu thông tin học vụ của sinh viên ngày càng cao, trong khi hình thức tư vấn truyền thống còn hạn chế về thời gian và nhân lực.</a:t>
            </a:r>
            <a:endParaRPr lang="en-US" sz="2200" dirty="0"/>
          </a:p>
          <a:p>
            <a:pPr marL="514350" indent="-514350" algn="just">
              <a:buAutoNum type="arabicPeriod"/>
            </a:pPr>
            <a:r>
              <a:rPr lang="vi-VN" sz="2400" dirty="0" err="1"/>
              <a:t>Chatbot</a:t>
            </a:r>
            <a:r>
              <a:rPr lang="vi-VN" sz="2400" dirty="0"/>
              <a:t> ứng dụng AI và xử lý ngôn ngữ tự nhiên cho phép hỗ trợ tư vấn học vụ tự động 24/7, phản hồi nhanh chóng và hiệu quả.</a:t>
            </a:r>
            <a:endParaRPr lang="en-US" sz="2400" dirty="0"/>
          </a:p>
          <a:p>
            <a:pPr marL="514350" indent="-514350" algn="just">
              <a:buAutoNum type="arabicPeriod"/>
            </a:pPr>
            <a:r>
              <a:rPr lang="vi-VN" sz="2400" dirty="0"/>
              <a:t>Nền tảng </a:t>
            </a:r>
            <a:r>
              <a:rPr lang="vi-VN" sz="2400" dirty="0" err="1"/>
              <a:t>Rasa</a:t>
            </a:r>
            <a:r>
              <a:rPr lang="vi-VN" sz="2400" dirty="0"/>
              <a:t> là công cụ mã nguồn mở, bảo mật và linh hoạt, phù hợp để xây dựng </a:t>
            </a:r>
            <a:r>
              <a:rPr lang="vi-VN" sz="2400" dirty="0" err="1"/>
              <a:t>chatbot</a:t>
            </a:r>
            <a:r>
              <a:rPr lang="vi-VN" sz="2400" dirty="0"/>
              <a:t> trong môi trường giáo dục.</a:t>
            </a:r>
            <a:endParaRPr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lnSpc>
                <a:spcPts val="3440"/>
              </a:lnSpc>
            </a:pPr>
            <a:r>
              <a:rPr lang="vi-VN" b="1" dirty="0">
                <a:solidFill>
                  <a:srgbClr val="000000"/>
                </a:solidFill>
                <a:latin typeface="Tahoma Bold"/>
                <a:ea typeface="Tahoma Bold"/>
                <a:cs typeface="Tahoma Bold"/>
                <a:sym typeface="Tahoma Bold"/>
              </a:rPr>
              <a:t>II. Lý thuyết </a:t>
            </a:r>
          </a:p>
        </p:txBody>
      </p:sp>
      <p:sp>
        <p:nvSpPr>
          <p:cNvPr id="3" name="Content Placeholder 2"/>
          <p:cNvSpPr>
            <a:spLocks noGrp="1"/>
          </p:cNvSpPr>
          <p:nvPr>
            <p:ph idx="1"/>
          </p:nvPr>
        </p:nvSpPr>
        <p:spPr/>
        <p:txBody>
          <a:bodyPr>
            <a:normAutofit fontScale="92500" lnSpcReduction="10000"/>
          </a:bodyPr>
          <a:lstStyle/>
          <a:p>
            <a:r>
              <a:rPr lang="vi-VN" sz="2200" b="1" dirty="0" err="1"/>
              <a:t>Chatbot</a:t>
            </a:r>
            <a:r>
              <a:rPr lang="vi-VN" sz="2200" dirty="0"/>
              <a:t>: Hệ thống phần mềm mô phỏng hội thoại người – máy, ứng dụng AI để hỗ trợ tư vấn và trả lời tự động.</a:t>
            </a:r>
            <a:endParaRPr lang="en-US" sz="2200" dirty="0"/>
          </a:p>
          <a:p>
            <a:r>
              <a:rPr lang="vi-VN" sz="2200" b="1" dirty="0"/>
              <a:t>Quản lý hội thoại</a:t>
            </a:r>
            <a:r>
              <a:rPr lang="vi-VN" sz="2200" dirty="0"/>
              <a:t>: Sử dụng </a:t>
            </a:r>
            <a:r>
              <a:rPr lang="vi-VN" sz="2200" dirty="0" err="1"/>
              <a:t>Stories</a:t>
            </a:r>
            <a:r>
              <a:rPr lang="vi-VN" sz="2200" dirty="0"/>
              <a:t>, </a:t>
            </a:r>
            <a:r>
              <a:rPr lang="vi-VN" sz="2200" dirty="0" err="1"/>
              <a:t>Rules</a:t>
            </a:r>
            <a:r>
              <a:rPr lang="vi-VN" sz="2200" dirty="0"/>
              <a:t> và </a:t>
            </a:r>
            <a:r>
              <a:rPr lang="vi-VN" sz="2200" dirty="0" err="1"/>
              <a:t>Actions</a:t>
            </a:r>
            <a:r>
              <a:rPr lang="vi-VN" sz="2200" dirty="0"/>
              <a:t> để điều hướng hội thoại và đưa ra phản hồi phù hợp theo ngữ cảnh.</a:t>
            </a:r>
            <a:endParaRPr lang="en-US" sz="2200" dirty="0"/>
          </a:p>
          <a:p>
            <a:r>
              <a:rPr lang="vi-VN" sz="2200" b="1" dirty="0"/>
              <a:t>Xử lý ngôn ngữ tự nhiên (NLU/NLP)</a:t>
            </a:r>
            <a:r>
              <a:rPr lang="vi-VN" sz="2200" dirty="0"/>
              <a:t>: Giúp </a:t>
            </a:r>
            <a:r>
              <a:rPr lang="vi-VN" sz="2200" dirty="0" err="1"/>
              <a:t>chatbot</a:t>
            </a:r>
            <a:r>
              <a:rPr lang="vi-VN" sz="2200" dirty="0"/>
              <a:t> hiểu câu hỏi của người dùng thông qua nhận diện ý định (</a:t>
            </a:r>
            <a:r>
              <a:rPr lang="vi-VN" sz="2200" dirty="0" err="1"/>
              <a:t>Intent</a:t>
            </a:r>
            <a:r>
              <a:rPr lang="vi-VN" sz="2200" dirty="0"/>
              <a:t>) và thực thể (</a:t>
            </a:r>
            <a:r>
              <a:rPr lang="vi-VN" sz="2200" dirty="0" err="1"/>
              <a:t>Entity</a:t>
            </a:r>
            <a:r>
              <a:rPr lang="vi-VN" sz="2200" dirty="0"/>
              <a:t>).</a:t>
            </a:r>
            <a:endParaRPr lang="en-US" sz="2200" dirty="0"/>
          </a:p>
          <a:p>
            <a:r>
              <a:rPr lang="en-US" sz="2400" b="1" dirty="0" err="1"/>
              <a:t>Nền</a:t>
            </a:r>
            <a:r>
              <a:rPr lang="en-US" sz="2400" b="1" dirty="0"/>
              <a:t> </a:t>
            </a:r>
            <a:r>
              <a:rPr lang="en-US" sz="2400" b="1" dirty="0" err="1"/>
              <a:t>tảng</a:t>
            </a:r>
            <a:r>
              <a:rPr lang="en-US" sz="2400" b="1" dirty="0"/>
              <a:t> Rasa</a:t>
            </a:r>
            <a:r>
              <a:rPr lang="en-US" sz="2400" dirty="0"/>
              <a:t>: Framework </a:t>
            </a:r>
            <a:r>
              <a:rPr lang="en-US" sz="2400" dirty="0" err="1"/>
              <a:t>mã</a:t>
            </a:r>
            <a:r>
              <a:rPr lang="en-US" sz="2400" dirty="0"/>
              <a:t> </a:t>
            </a:r>
            <a:r>
              <a:rPr lang="en-US" sz="2400" dirty="0" err="1"/>
              <a:t>nguồn</a:t>
            </a:r>
            <a:r>
              <a:rPr lang="en-US" sz="2400" dirty="0"/>
              <a:t> </a:t>
            </a:r>
            <a:r>
              <a:rPr lang="en-US" sz="2400" dirty="0" err="1"/>
              <a:t>mở</a:t>
            </a:r>
            <a:r>
              <a:rPr lang="en-US" sz="2400" dirty="0"/>
              <a:t> </a:t>
            </a:r>
            <a:r>
              <a:rPr lang="en-US" sz="2400" dirty="0" err="1"/>
              <a:t>hỗ</a:t>
            </a:r>
            <a:r>
              <a:rPr lang="en-US" sz="2400" dirty="0"/>
              <a:t> </a:t>
            </a:r>
            <a:r>
              <a:rPr lang="en-US" sz="2400" dirty="0" err="1"/>
              <a:t>trợ</a:t>
            </a:r>
            <a:r>
              <a:rPr lang="en-US" sz="2400" dirty="0"/>
              <a:t> </a:t>
            </a:r>
            <a:r>
              <a:rPr lang="en-US" sz="2400" dirty="0" err="1"/>
              <a:t>xây</a:t>
            </a:r>
            <a:r>
              <a:rPr lang="en-US" sz="2400" dirty="0"/>
              <a:t> </a:t>
            </a:r>
            <a:r>
              <a:rPr lang="en-US" sz="2400" dirty="0" err="1"/>
              <a:t>dựng</a:t>
            </a:r>
            <a:r>
              <a:rPr lang="en-US" sz="2400" dirty="0"/>
              <a:t> chatbot, </a:t>
            </a:r>
            <a:r>
              <a:rPr lang="en-US" sz="2400" dirty="0" err="1"/>
              <a:t>gồm</a:t>
            </a:r>
            <a:r>
              <a:rPr lang="en-US" sz="2400" dirty="0"/>
              <a:t> </a:t>
            </a:r>
            <a:r>
              <a:rPr lang="en-US" sz="2400" dirty="0" err="1"/>
              <a:t>hai</a:t>
            </a:r>
            <a:r>
              <a:rPr lang="en-US" sz="2400" dirty="0"/>
              <a:t> </a:t>
            </a:r>
            <a:r>
              <a:rPr lang="en-US" sz="2400" dirty="0" err="1"/>
              <a:t>thành</a:t>
            </a:r>
            <a:r>
              <a:rPr lang="en-US" sz="2400" dirty="0"/>
              <a:t> </a:t>
            </a:r>
            <a:r>
              <a:rPr lang="en-US" sz="2400" dirty="0" err="1"/>
              <a:t>phần</a:t>
            </a:r>
            <a:r>
              <a:rPr lang="en-US" sz="2400" dirty="0"/>
              <a:t> </a:t>
            </a:r>
            <a:r>
              <a:rPr lang="en-US" sz="2400" dirty="0" err="1"/>
              <a:t>chính</a:t>
            </a:r>
            <a:r>
              <a:rPr lang="en-US" sz="2400" dirty="0"/>
              <a:t> </a:t>
            </a:r>
            <a:r>
              <a:rPr lang="en-US" sz="2400" dirty="0" err="1"/>
              <a:t>là</a:t>
            </a:r>
            <a:r>
              <a:rPr lang="en-US" sz="2400" dirty="0"/>
              <a:t> </a:t>
            </a:r>
            <a:r>
              <a:rPr lang="en-US" sz="2400" b="1" dirty="0"/>
              <a:t>Rasa NLU</a:t>
            </a:r>
            <a:r>
              <a:rPr lang="en-US" sz="2400" dirty="0"/>
              <a:t> </a:t>
            </a:r>
            <a:r>
              <a:rPr lang="en-US" sz="2400" dirty="0" err="1"/>
              <a:t>và</a:t>
            </a:r>
            <a:r>
              <a:rPr lang="en-US" sz="2400" dirty="0"/>
              <a:t> </a:t>
            </a:r>
            <a:r>
              <a:rPr lang="en-US" sz="2400" b="1" dirty="0"/>
              <a:t>Rasa Core</a:t>
            </a:r>
            <a:r>
              <a:rPr lang="en-US" sz="2400" dirty="0"/>
              <a:t>.</a:t>
            </a:r>
            <a:endParaRPr lang="vi-VN"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458" y="565501"/>
            <a:ext cx="8229600" cy="1143000"/>
          </a:xfrm>
        </p:spPr>
        <p:txBody>
          <a:bodyPr/>
          <a:lstStyle/>
          <a:p>
            <a:pPr algn="l">
              <a:lnSpc>
                <a:spcPts val="3439"/>
              </a:lnSpc>
            </a:pPr>
            <a:r>
              <a:rPr lang="vi-VN" b="1" dirty="0">
                <a:solidFill>
                  <a:srgbClr val="000000"/>
                </a:solidFill>
                <a:latin typeface="Tahoma Bold"/>
                <a:ea typeface="Tahoma Bold"/>
                <a:cs typeface="Tahoma Bold"/>
                <a:sym typeface="Tahoma Bold"/>
              </a:rPr>
              <a:t>III. Kết quả đạt được</a:t>
            </a:r>
          </a:p>
        </p:txBody>
      </p:sp>
      <p:sp>
        <p:nvSpPr>
          <p:cNvPr id="3" name="Content Placeholder 2"/>
          <p:cNvSpPr>
            <a:spLocks noGrp="1"/>
          </p:cNvSpPr>
          <p:nvPr>
            <p:ph idx="1"/>
          </p:nvPr>
        </p:nvSpPr>
        <p:spPr>
          <a:xfrm>
            <a:off x="294967" y="1285519"/>
            <a:ext cx="6347714" cy="3880773"/>
          </a:xfrm>
        </p:spPr>
        <p:txBody>
          <a:bodyPr>
            <a:normAutofit/>
          </a:bodyPr>
          <a:lstStyle/>
          <a:p>
            <a:pPr marL="0" indent="0">
              <a:buNone/>
            </a:pPr>
            <a:r>
              <a:rPr lang="en-US" sz="2400" b="1" dirty="0"/>
              <a:t>1. </a:t>
            </a:r>
            <a:r>
              <a:rPr lang="vi-VN" sz="2400" b="1" dirty="0"/>
              <a:t>Giao diện tổng thể của </a:t>
            </a:r>
            <a:r>
              <a:rPr lang="vi-VN" sz="2400" b="1" dirty="0" err="1"/>
              <a:t>chatbot</a:t>
            </a:r>
            <a:endParaRPr lang="en-US" sz="2400" dirty="0"/>
          </a:p>
          <a:p>
            <a:pPr marL="0" indent="0">
              <a:buNone/>
            </a:pPr>
            <a:r>
              <a:rPr lang="en-US" sz="2200" dirty="0"/>
              <a:t>- </a:t>
            </a:r>
            <a:r>
              <a:rPr lang="vi-VN" sz="2200" dirty="0"/>
              <a:t>Xây dựng thành công </a:t>
            </a:r>
            <a:r>
              <a:rPr lang="vi-VN" sz="2200" dirty="0" err="1"/>
              <a:t>chatbot</a:t>
            </a:r>
            <a:r>
              <a:rPr lang="vi-VN" sz="2200" dirty="0"/>
              <a:t> tư vấn học vụ cho sinh viên Trường Đại học Trà Vinh dựa trên nền tảng </a:t>
            </a:r>
            <a:r>
              <a:rPr lang="vi-VN" sz="2200" dirty="0" err="1"/>
              <a:t>Rasa</a:t>
            </a:r>
            <a:r>
              <a:rPr lang="vi-VN" sz="2200" dirty="0"/>
              <a:t>.</a:t>
            </a:r>
            <a:endParaRPr lang="en-US" sz="2200" dirty="0"/>
          </a:p>
          <a:p>
            <a:pPr marL="0" indent="0">
              <a:buNone/>
            </a:pPr>
            <a:endParaRPr sz="2200" dirty="0"/>
          </a:p>
        </p:txBody>
      </p:sp>
      <p:sp>
        <p:nvSpPr>
          <p:cNvPr id="8" name="TextBox 7">
            <a:extLst>
              <a:ext uri="{FF2B5EF4-FFF2-40B4-BE49-F238E27FC236}">
                <a16:creationId xmlns:a16="http://schemas.microsoft.com/office/drawing/2014/main" id="{20DF30D8-7B0A-36B0-54B6-D2A337409E1D}"/>
              </a:ext>
            </a:extLst>
          </p:cNvPr>
          <p:cNvSpPr txBox="1"/>
          <p:nvPr/>
        </p:nvSpPr>
        <p:spPr>
          <a:xfrm>
            <a:off x="383458" y="3046969"/>
            <a:ext cx="3539613" cy="3477875"/>
          </a:xfrm>
          <a:prstGeom prst="rect">
            <a:avLst/>
          </a:prstGeom>
          <a:noFill/>
        </p:spPr>
        <p:txBody>
          <a:bodyPr wrap="square" rtlCol="0">
            <a:spAutoFit/>
          </a:bodyPr>
          <a:lstStyle/>
          <a:p>
            <a:r>
              <a:rPr lang="en-US" sz="2200" dirty="0"/>
              <a:t>- Thanh </a:t>
            </a:r>
            <a:r>
              <a:rPr lang="en-US" sz="2200" dirty="0" err="1"/>
              <a:t>tiêu</a:t>
            </a:r>
            <a:r>
              <a:rPr lang="en-US" sz="2200" dirty="0"/>
              <a:t> </a:t>
            </a:r>
            <a:r>
              <a:rPr lang="en-US" sz="2200" dirty="0" err="1"/>
              <a:t>đề</a:t>
            </a:r>
            <a:r>
              <a:rPr lang="en-US" sz="2200" dirty="0"/>
              <a:t> </a:t>
            </a:r>
            <a:r>
              <a:rPr lang="en-US" sz="2200" dirty="0" err="1"/>
              <a:t>hiển</a:t>
            </a:r>
            <a:r>
              <a:rPr lang="en-US" sz="2200" dirty="0"/>
              <a:t> </a:t>
            </a:r>
            <a:r>
              <a:rPr lang="en-US" sz="2200" dirty="0" err="1"/>
              <a:t>thị</a:t>
            </a:r>
            <a:r>
              <a:rPr lang="en-US" sz="2200" dirty="0"/>
              <a:t> </a:t>
            </a:r>
            <a:r>
              <a:rPr lang="en-US" sz="2200" dirty="0" err="1"/>
              <a:t>tên</a:t>
            </a:r>
            <a:r>
              <a:rPr lang="en-US" sz="2200" dirty="0"/>
              <a:t> chatbot: </a:t>
            </a:r>
            <a:r>
              <a:rPr lang="en-US" sz="2200" i="1" dirty="0"/>
              <a:t>“Chatbot </a:t>
            </a:r>
            <a:r>
              <a:rPr lang="en-US" sz="2200" i="1" dirty="0" err="1"/>
              <a:t>tư</a:t>
            </a:r>
            <a:r>
              <a:rPr lang="en-US" sz="2200" i="1" dirty="0"/>
              <a:t> </a:t>
            </a:r>
            <a:r>
              <a:rPr lang="en-US" sz="2200" i="1" dirty="0" err="1"/>
              <a:t>vấn</a:t>
            </a:r>
            <a:r>
              <a:rPr lang="en-US" sz="2200" i="1" dirty="0"/>
              <a:t> </a:t>
            </a:r>
            <a:r>
              <a:rPr lang="en-US" sz="2200" i="1" dirty="0" err="1"/>
              <a:t>học</a:t>
            </a:r>
            <a:r>
              <a:rPr lang="en-US" sz="2200" i="1" dirty="0"/>
              <a:t> </a:t>
            </a:r>
            <a:r>
              <a:rPr lang="en-US" sz="2200" i="1" dirty="0" err="1"/>
              <a:t>vụ</a:t>
            </a:r>
            <a:r>
              <a:rPr lang="en-US" sz="2200" i="1" dirty="0"/>
              <a:t> Trường </a:t>
            </a:r>
            <a:r>
              <a:rPr lang="en-US" sz="2200" i="1" dirty="0" err="1"/>
              <a:t>Đại</a:t>
            </a:r>
            <a:r>
              <a:rPr lang="en-US" sz="2200" i="1" dirty="0"/>
              <a:t> </a:t>
            </a:r>
            <a:r>
              <a:rPr lang="en-US" sz="2200" i="1" dirty="0" err="1"/>
              <a:t>học</a:t>
            </a:r>
            <a:r>
              <a:rPr lang="en-US" sz="2200" i="1" dirty="0"/>
              <a:t> Trà Vinh”</a:t>
            </a:r>
            <a:r>
              <a:rPr lang="en-US" sz="2200" dirty="0"/>
              <a:t>.</a:t>
            </a:r>
          </a:p>
          <a:p>
            <a:r>
              <a:rPr lang="en-US" sz="2200" dirty="0"/>
              <a:t>- Khu </a:t>
            </a:r>
            <a:r>
              <a:rPr lang="en-US" sz="2200" dirty="0" err="1"/>
              <a:t>vực</a:t>
            </a:r>
            <a:r>
              <a:rPr lang="en-US" sz="2200" dirty="0"/>
              <a:t> </a:t>
            </a:r>
            <a:r>
              <a:rPr lang="en-US" sz="2200" dirty="0" err="1"/>
              <a:t>hiển</a:t>
            </a:r>
            <a:r>
              <a:rPr lang="en-US" sz="2200" dirty="0"/>
              <a:t> </a:t>
            </a:r>
            <a:r>
              <a:rPr lang="en-US" sz="2200" dirty="0" err="1"/>
              <a:t>thị</a:t>
            </a:r>
            <a:r>
              <a:rPr lang="en-US" sz="2200" dirty="0"/>
              <a:t> </a:t>
            </a:r>
            <a:r>
              <a:rPr lang="en-US" sz="2200" dirty="0" err="1"/>
              <a:t>nội</a:t>
            </a:r>
            <a:r>
              <a:rPr lang="en-US" sz="2200" dirty="0"/>
              <a:t> dung </a:t>
            </a:r>
            <a:r>
              <a:rPr lang="en-US" sz="2200" dirty="0" err="1"/>
              <a:t>hội</a:t>
            </a:r>
            <a:r>
              <a:rPr lang="en-US" sz="2200" dirty="0"/>
              <a:t> </a:t>
            </a:r>
            <a:r>
              <a:rPr lang="en-US" sz="2200" dirty="0" err="1"/>
              <a:t>thoại</a:t>
            </a:r>
            <a:r>
              <a:rPr lang="en-US" sz="2200" dirty="0"/>
              <a:t>.</a:t>
            </a:r>
          </a:p>
          <a:p>
            <a:r>
              <a:rPr lang="en-US" sz="2200" dirty="0"/>
              <a:t>- Thanh </a:t>
            </a:r>
            <a:r>
              <a:rPr lang="en-US" sz="2200" dirty="0" err="1"/>
              <a:t>nhập</a:t>
            </a:r>
            <a:r>
              <a:rPr lang="en-US" sz="2200" dirty="0"/>
              <a:t> tin </a:t>
            </a:r>
            <a:r>
              <a:rPr lang="en-US" sz="2200" dirty="0" err="1"/>
              <a:t>nhắn</a:t>
            </a:r>
            <a:r>
              <a:rPr lang="en-US" sz="2200" dirty="0"/>
              <a:t> </a:t>
            </a:r>
            <a:r>
              <a:rPr lang="en-US" sz="2200" dirty="0" err="1"/>
              <a:t>và</a:t>
            </a:r>
            <a:r>
              <a:rPr lang="en-US" sz="2200" dirty="0"/>
              <a:t> </a:t>
            </a:r>
            <a:r>
              <a:rPr lang="en-US" sz="2200" dirty="0" err="1"/>
              <a:t>nút</a:t>
            </a:r>
            <a:r>
              <a:rPr lang="en-US" sz="2200" dirty="0"/>
              <a:t> </a:t>
            </a:r>
            <a:r>
              <a:rPr lang="en-US" sz="2200" dirty="0" err="1"/>
              <a:t>gửi</a:t>
            </a:r>
            <a:r>
              <a:rPr lang="en-US" sz="2200" dirty="0"/>
              <a:t> ở </a:t>
            </a:r>
            <a:r>
              <a:rPr lang="en-US" sz="2200" dirty="0" err="1"/>
              <a:t>cuối</a:t>
            </a:r>
            <a:r>
              <a:rPr lang="en-US" sz="2200" dirty="0"/>
              <a:t> </a:t>
            </a:r>
            <a:r>
              <a:rPr lang="en-US" sz="2200" dirty="0" err="1"/>
              <a:t>màn</a:t>
            </a:r>
            <a:r>
              <a:rPr lang="en-US" sz="2200" dirty="0"/>
              <a:t> </a:t>
            </a:r>
            <a:r>
              <a:rPr lang="en-US" sz="2200" dirty="0" err="1"/>
              <a:t>hình</a:t>
            </a:r>
            <a:r>
              <a:rPr lang="en-US" sz="2200" dirty="0"/>
              <a:t>.</a:t>
            </a:r>
          </a:p>
          <a:p>
            <a:r>
              <a:rPr lang="en-US" sz="2200" dirty="0"/>
              <a:t>- Menu </a:t>
            </a:r>
            <a:r>
              <a:rPr lang="en-US" sz="2200" dirty="0" err="1"/>
              <a:t>bên</a:t>
            </a:r>
            <a:r>
              <a:rPr lang="en-US" sz="2200" dirty="0"/>
              <a:t> </a:t>
            </a:r>
            <a:r>
              <a:rPr lang="en-US" sz="2200" dirty="0" err="1"/>
              <a:t>trái</a:t>
            </a:r>
            <a:r>
              <a:rPr lang="en-US" sz="2200" dirty="0"/>
              <a:t> </a:t>
            </a:r>
            <a:r>
              <a:rPr lang="en-US" sz="2200" dirty="0" err="1"/>
              <a:t>cho</a:t>
            </a:r>
            <a:r>
              <a:rPr lang="en-US" sz="2200" dirty="0"/>
              <a:t> </a:t>
            </a:r>
            <a:r>
              <a:rPr lang="en-US" sz="2200" dirty="0" err="1"/>
              <a:t>phép</a:t>
            </a:r>
            <a:r>
              <a:rPr lang="en-US" sz="2200" dirty="0"/>
              <a:t> </a:t>
            </a:r>
            <a:r>
              <a:rPr lang="en-US" sz="2200" dirty="0" err="1"/>
              <a:t>tạo</a:t>
            </a:r>
            <a:r>
              <a:rPr lang="en-US" sz="2200" dirty="0"/>
              <a:t> </a:t>
            </a:r>
            <a:r>
              <a:rPr lang="en-US" sz="2200" dirty="0" err="1"/>
              <a:t>cuộc</a:t>
            </a:r>
            <a:r>
              <a:rPr lang="en-US" sz="2200" dirty="0"/>
              <a:t> </a:t>
            </a:r>
            <a:r>
              <a:rPr lang="en-US" sz="2200" dirty="0" err="1"/>
              <a:t>trò</a:t>
            </a:r>
            <a:r>
              <a:rPr lang="en-US" sz="2200" dirty="0"/>
              <a:t> </a:t>
            </a:r>
            <a:r>
              <a:rPr lang="en-US" sz="2200" dirty="0" err="1"/>
              <a:t>chuyện</a:t>
            </a:r>
            <a:r>
              <a:rPr lang="en-US" sz="2200" dirty="0"/>
              <a:t> </a:t>
            </a:r>
            <a:r>
              <a:rPr lang="en-US" sz="2200" dirty="0" err="1"/>
              <a:t>mới</a:t>
            </a:r>
            <a:r>
              <a:rPr lang="en-US" sz="2200" dirty="0"/>
              <a:t>.</a:t>
            </a:r>
          </a:p>
          <a:p>
            <a:endParaRPr lang="en-US" sz="2200" dirty="0"/>
          </a:p>
        </p:txBody>
      </p:sp>
      <p:pic>
        <p:nvPicPr>
          <p:cNvPr id="9" name="Picture 8" descr="A screenshot of a computer&#10;&#10;AI-generated content may be incorrect.">
            <a:extLst>
              <a:ext uri="{FF2B5EF4-FFF2-40B4-BE49-F238E27FC236}">
                <a16:creationId xmlns:a16="http://schemas.microsoft.com/office/drawing/2014/main" id="{CB4C7B58-1179-E10D-944A-4A4C82D3B4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23070" y="3121232"/>
            <a:ext cx="4837471" cy="317126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vi-VN" b="1" dirty="0">
                <a:solidFill>
                  <a:srgbClr val="000000"/>
                </a:solidFill>
                <a:latin typeface="Tahoma Bold"/>
                <a:ea typeface="Tahoma Bold"/>
                <a:cs typeface="Tahoma Bold"/>
                <a:sym typeface="Tahoma Bold"/>
              </a:rPr>
              <a:t>III. Kết quả đạt được</a:t>
            </a:r>
            <a:endParaRPr dirty="0"/>
          </a:p>
        </p:txBody>
      </p:sp>
      <p:sp>
        <p:nvSpPr>
          <p:cNvPr id="6" name="Content Placeholder 5">
            <a:extLst>
              <a:ext uri="{FF2B5EF4-FFF2-40B4-BE49-F238E27FC236}">
                <a16:creationId xmlns:a16="http://schemas.microsoft.com/office/drawing/2014/main" id="{88BF7580-FB51-BF9B-AB02-7C789C3FC34F}"/>
              </a:ext>
            </a:extLst>
          </p:cNvPr>
          <p:cNvSpPr>
            <a:spLocks noGrp="1"/>
          </p:cNvSpPr>
          <p:nvPr>
            <p:ph idx="1"/>
          </p:nvPr>
        </p:nvSpPr>
        <p:spPr>
          <a:xfrm>
            <a:off x="555521" y="1488613"/>
            <a:ext cx="6347714" cy="3880773"/>
          </a:xfrm>
        </p:spPr>
        <p:txBody>
          <a:bodyPr>
            <a:normAutofit/>
          </a:bodyPr>
          <a:lstStyle/>
          <a:p>
            <a:pPr marL="0" indent="0">
              <a:buNone/>
            </a:pPr>
            <a:r>
              <a:rPr lang="en-US" sz="2400" b="1" dirty="0"/>
              <a:t>2. </a:t>
            </a:r>
            <a:r>
              <a:rPr lang="en-US" sz="2400" b="1" dirty="0" err="1"/>
              <a:t>Kết</a:t>
            </a:r>
            <a:r>
              <a:rPr lang="en-US" sz="2400" b="1" dirty="0"/>
              <a:t> </a:t>
            </a:r>
            <a:r>
              <a:rPr lang="en-US" sz="2400" b="1" dirty="0" err="1"/>
              <a:t>quả</a:t>
            </a:r>
            <a:r>
              <a:rPr lang="en-US" sz="2400" b="1" dirty="0"/>
              <a:t> </a:t>
            </a:r>
            <a:r>
              <a:rPr lang="en-US" sz="2400" b="1" dirty="0" err="1"/>
              <a:t>về</a:t>
            </a:r>
            <a:r>
              <a:rPr lang="en-US" sz="2400" b="1" dirty="0"/>
              <a:t> </a:t>
            </a:r>
            <a:r>
              <a:rPr lang="en-US" sz="2400" b="1" dirty="0" err="1"/>
              <a:t>mặt</a:t>
            </a:r>
            <a:r>
              <a:rPr lang="en-US" sz="2400" b="1" dirty="0"/>
              <a:t> </a:t>
            </a:r>
            <a:r>
              <a:rPr lang="en-US" sz="2400" b="1" dirty="0" err="1"/>
              <a:t>kỹ</a:t>
            </a:r>
            <a:r>
              <a:rPr lang="en-US" sz="2400" b="1" dirty="0"/>
              <a:t> </a:t>
            </a:r>
            <a:r>
              <a:rPr lang="en-US" sz="2400" b="1" dirty="0" err="1"/>
              <a:t>thuật</a:t>
            </a:r>
            <a:endParaRPr lang="en-US" sz="2400" b="1" dirty="0"/>
          </a:p>
          <a:p>
            <a:pPr marL="0" lvl="0" indent="0" defTabSz="914400" eaLnBrk="0" fontAlgn="base" hangingPunct="0">
              <a:spcBef>
                <a:spcPct val="0"/>
              </a:spcBef>
              <a:spcAft>
                <a:spcPct val="0"/>
              </a:spcAft>
              <a:buNone/>
            </a:pPr>
            <a:r>
              <a:rPr lang="en-US" sz="2200" b="1" dirty="0"/>
              <a:t> - </a:t>
            </a:r>
            <a:r>
              <a:rPr lang="en-US" altLang="en-US" sz="2200" dirty="0" err="1">
                <a:latin typeface="Arial" panose="020B0604020202020204" pitchFamily="34" charset="0"/>
              </a:rPr>
              <a:t>Thiết</a:t>
            </a:r>
            <a:r>
              <a:rPr lang="en-US" altLang="en-US" sz="2200" dirty="0">
                <a:latin typeface="Arial" panose="020B0604020202020204" pitchFamily="34" charset="0"/>
              </a:rPr>
              <a:t> </a:t>
            </a:r>
            <a:r>
              <a:rPr lang="en-US" altLang="en-US" sz="2200" dirty="0" err="1">
                <a:latin typeface="Arial" panose="020B0604020202020204" pitchFamily="34" charset="0"/>
              </a:rPr>
              <a:t>lập</a:t>
            </a:r>
            <a:r>
              <a:rPr lang="en-US" altLang="en-US" sz="2200" dirty="0">
                <a:latin typeface="Arial" panose="020B0604020202020204" pitchFamily="34" charset="0"/>
              </a:rPr>
              <a:t> </a:t>
            </a:r>
            <a:r>
              <a:rPr lang="en-US" altLang="en-US" sz="2200" dirty="0" err="1">
                <a:latin typeface="Arial" panose="020B0604020202020204" pitchFamily="34" charset="0"/>
              </a:rPr>
              <a:t>và</a:t>
            </a:r>
            <a:r>
              <a:rPr lang="en-US" altLang="en-US" sz="2200" dirty="0">
                <a:latin typeface="Arial" panose="020B0604020202020204" pitchFamily="34" charset="0"/>
              </a:rPr>
              <a:t> </a:t>
            </a:r>
            <a:r>
              <a:rPr lang="en-US" altLang="en-US" sz="2200" dirty="0" err="1">
                <a:latin typeface="Arial" panose="020B0604020202020204" pitchFamily="34" charset="0"/>
              </a:rPr>
              <a:t>triển</a:t>
            </a:r>
            <a:r>
              <a:rPr lang="en-US" altLang="en-US" sz="2200" dirty="0">
                <a:latin typeface="Arial" panose="020B0604020202020204" pitchFamily="34" charset="0"/>
              </a:rPr>
              <a:t> </a:t>
            </a:r>
            <a:r>
              <a:rPr lang="en-US" altLang="en-US" sz="2200" dirty="0" err="1">
                <a:latin typeface="Arial" panose="020B0604020202020204" pitchFamily="34" charset="0"/>
              </a:rPr>
              <a:t>khai</a:t>
            </a:r>
            <a:r>
              <a:rPr lang="en-US" altLang="en-US" sz="2200" dirty="0">
                <a:latin typeface="Arial" panose="020B0604020202020204" pitchFamily="34" charset="0"/>
              </a:rPr>
              <a:t> chatbot </a:t>
            </a:r>
            <a:r>
              <a:rPr lang="en-US" altLang="en-US" sz="2200" dirty="0" err="1">
                <a:latin typeface="Arial" panose="020B0604020202020204" pitchFamily="34" charset="0"/>
              </a:rPr>
              <a:t>bằng</a:t>
            </a:r>
            <a:r>
              <a:rPr lang="en-US" altLang="en-US" sz="2200" dirty="0">
                <a:latin typeface="Arial" panose="020B0604020202020204" pitchFamily="34" charset="0"/>
              </a:rPr>
              <a:t> Rasa </a:t>
            </a:r>
            <a:r>
              <a:rPr lang="en-US" altLang="en-US" sz="2200" dirty="0" err="1">
                <a:latin typeface="Arial" panose="020B0604020202020204" pitchFamily="34" charset="0"/>
              </a:rPr>
              <a:t>trên</a:t>
            </a:r>
            <a:r>
              <a:rPr lang="en-US" altLang="en-US" sz="2200" dirty="0">
                <a:latin typeface="Arial" panose="020B0604020202020204" pitchFamily="34" charset="0"/>
              </a:rPr>
              <a:t> </a:t>
            </a:r>
            <a:r>
              <a:rPr lang="en-US" altLang="en-US" sz="2200" dirty="0" err="1">
                <a:latin typeface="Arial" panose="020B0604020202020204" pitchFamily="34" charset="0"/>
              </a:rPr>
              <a:t>môi</a:t>
            </a:r>
            <a:r>
              <a:rPr lang="en-US" altLang="en-US" sz="2200" dirty="0">
                <a:latin typeface="Arial" panose="020B0604020202020204" pitchFamily="34" charset="0"/>
              </a:rPr>
              <a:t> </a:t>
            </a:r>
            <a:r>
              <a:rPr lang="en-US" altLang="en-US" sz="2200" dirty="0" err="1">
                <a:latin typeface="Arial" panose="020B0604020202020204" pitchFamily="34" charset="0"/>
              </a:rPr>
              <a:t>trường</a:t>
            </a:r>
            <a:r>
              <a:rPr lang="en-US" altLang="en-US" sz="2200" dirty="0">
                <a:latin typeface="Arial" panose="020B0604020202020204" pitchFamily="34" charset="0"/>
              </a:rPr>
              <a:t> Docker</a:t>
            </a:r>
          </a:p>
          <a:p>
            <a:pPr marL="0" lvl="0" indent="0" defTabSz="914400" eaLnBrk="0" fontAlgn="base" hangingPunct="0">
              <a:spcBef>
                <a:spcPct val="0"/>
              </a:spcBef>
              <a:spcAft>
                <a:spcPct val="0"/>
              </a:spcAft>
              <a:buNone/>
            </a:pPr>
            <a:r>
              <a:rPr lang="en-US" altLang="en-US" sz="2200" dirty="0">
                <a:latin typeface="Arial" panose="020B0604020202020204" pitchFamily="34" charset="0"/>
              </a:rPr>
              <a:t>- </a:t>
            </a:r>
            <a:r>
              <a:rPr lang="en-US" altLang="en-US" sz="2200" dirty="0" err="1">
                <a:latin typeface="Arial" panose="020B0604020202020204" pitchFamily="34" charset="0"/>
              </a:rPr>
              <a:t>Xây</a:t>
            </a:r>
            <a:r>
              <a:rPr lang="en-US" altLang="en-US" sz="2200" dirty="0">
                <a:latin typeface="Arial" panose="020B0604020202020204" pitchFamily="34" charset="0"/>
              </a:rPr>
              <a:t> </a:t>
            </a:r>
            <a:r>
              <a:rPr lang="en-US" altLang="en-US" sz="2200" dirty="0" err="1">
                <a:latin typeface="Arial" panose="020B0604020202020204" pitchFamily="34" charset="0"/>
              </a:rPr>
              <a:t>dựng</a:t>
            </a:r>
            <a:r>
              <a:rPr lang="en-US" altLang="en-US" sz="2200" dirty="0">
                <a:latin typeface="Arial" panose="020B0604020202020204" pitchFamily="34" charset="0"/>
              </a:rPr>
              <a:t> </a:t>
            </a:r>
            <a:r>
              <a:rPr lang="en-US" altLang="en-US" sz="2200" dirty="0" err="1">
                <a:latin typeface="Arial" panose="020B0604020202020204" pitchFamily="34" charset="0"/>
              </a:rPr>
              <a:t>đầy</a:t>
            </a:r>
            <a:r>
              <a:rPr lang="en-US" altLang="en-US" sz="2200" dirty="0">
                <a:latin typeface="Arial" panose="020B0604020202020204" pitchFamily="34" charset="0"/>
              </a:rPr>
              <a:t> </a:t>
            </a:r>
            <a:r>
              <a:rPr lang="en-US" altLang="en-US" sz="2200" dirty="0" err="1">
                <a:latin typeface="Arial" panose="020B0604020202020204" pitchFamily="34" charset="0"/>
              </a:rPr>
              <a:t>đủ</a:t>
            </a:r>
            <a:r>
              <a:rPr lang="en-US" altLang="en-US" sz="2200" dirty="0">
                <a:latin typeface="Arial" panose="020B0604020202020204" pitchFamily="34" charset="0"/>
              </a:rPr>
              <a:t> intents, entities, stories </a:t>
            </a:r>
            <a:r>
              <a:rPr lang="en-US" altLang="en-US" sz="2200" dirty="0" err="1">
                <a:latin typeface="Arial" panose="020B0604020202020204" pitchFamily="34" charset="0"/>
              </a:rPr>
              <a:t>và</a:t>
            </a:r>
            <a:r>
              <a:rPr lang="en-US" altLang="en-US" sz="2200" dirty="0">
                <a:latin typeface="Arial" panose="020B0604020202020204" pitchFamily="34" charset="0"/>
              </a:rPr>
              <a:t> rules</a:t>
            </a:r>
          </a:p>
          <a:p>
            <a:pPr marL="0" lvl="0" indent="0" defTabSz="914400" eaLnBrk="0" fontAlgn="base" hangingPunct="0">
              <a:spcBef>
                <a:spcPct val="0"/>
              </a:spcBef>
              <a:spcAft>
                <a:spcPct val="0"/>
              </a:spcAft>
              <a:buNone/>
            </a:pPr>
            <a:r>
              <a:rPr lang="en-US" altLang="en-US" sz="2200" dirty="0">
                <a:latin typeface="Arial" panose="020B0604020202020204" pitchFamily="34" charset="0"/>
              </a:rPr>
              <a:t>- </a:t>
            </a:r>
            <a:r>
              <a:rPr lang="en-US" altLang="en-US" sz="2200" dirty="0" err="1">
                <a:latin typeface="Arial" panose="020B0604020202020204" pitchFamily="34" charset="0"/>
              </a:rPr>
              <a:t>Huấn</a:t>
            </a:r>
            <a:r>
              <a:rPr lang="en-US" altLang="en-US" sz="2200" dirty="0">
                <a:latin typeface="Arial" panose="020B0604020202020204" pitchFamily="34" charset="0"/>
              </a:rPr>
              <a:t> </a:t>
            </a:r>
            <a:r>
              <a:rPr lang="en-US" altLang="en-US" sz="2200" dirty="0" err="1">
                <a:latin typeface="Arial" panose="020B0604020202020204" pitchFamily="34" charset="0"/>
              </a:rPr>
              <a:t>luyện</a:t>
            </a:r>
            <a:r>
              <a:rPr lang="en-US" altLang="en-US" sz="2200" dirty="0">
                <a:latin typeface="Arial" panose="020B0604020202020204" pitchFamily="34" charset="0"/>
              </a:rPr>
              <a:t> </a:t>
            </a:r>
            <a:r>
              <a:rPr lang="en-US" altLang="en-US" sz="2200" dirty="0" err="1">
                <a:latin typeface="Arial" panose="020B0604020202020204" pitchFamily="34" charset="0"/>
              </a:rPr>
              <a:t>thành</a:t>
            </a:r>
            <a:r>
              <a:rPr lang="en-US" altLang="en-US" sz="2200" dirty="0">
                <a:latin typeface="Arial" panose="020B0604020202020204" pitchFamily="34" charset="0"/>
              </a:rPr>
              <a:t> </a:t>
            </a:r>
            <a:r>
              <a:rPr lang="en-US" altLang="en-US" sz="2200" dirty="0" err="1">
                <a:latin typeface="Arial" panose="020B0604020202020204" pitchFamily="34" charset="0"/>
              </a:rPr>
              <a:t>công</a:t>
            </a:r>
            <a:r>
              <a:rPr lang="en-US" altLang="en-US" sz="2200" dirty="0">
                <a:latin typeface="Arial" panose="020B0604020202020204" pitchFamily="34" charset="0"/>
              </a:rPr>
              <a:t> </a:t>
            </a:r>
            <a:r>
              <a:rPr lang="en-US" altLang="en-US" sz="2200" dirty="0" err="1">
                <a:latin typeface="Arial" panose="020B0604020202020204" pitchFamily="34" charset="0"/>
              </a:rPr>
              <a:t>mô</a:t>
            </a:r>
            <a:r>
              <a:rPr lang="en-US" altLang="en-US" sz="2200" dirty="0">
                <a:latin typeface="Arial" panose="020B0604020202020204" pitchFamily="34" charset="0"/>
              </a:rPr>
              <a:t> </a:t>
            </a:r>
            <a:r>
              <a:rPr lang="en-US" altLang="en-US" sz="2200" dirty="0" err="1">
                <a:latin typeface="Arial" panose="020B0604020202020204" pitchFamily="34" charset="0"/>
              </a:rPr>
              <a:t>hình</a:t>
            </a:r>
            <a:r>
              <a:rPr lang="en-US" altLang="en-US" sz="2200" dirty="0">
                <a:latin typeface="Arial" panose="020B0604020202020204" pitchFamily="34" charset="0"/>
              </a:rPr>
              <a:t> Rasa NLU </a:t>
            </a:r>
            <a:r>
              <a:rPr lang="en-US" altLang="en-US" sz="2200" dirty="0" err="1">
                <a:latin typeface="Arial" panose="020B0604020202020204" pitchFamily="34" charset="0"/>
              </a:rPr>
              <a:t>và</a:t>
            </a:r>
            <a:r>
              <a:rPr lang="en-US" altLang="en-US" sz="2200" dirty="0">
                <a:latin typeface="Arial" panose="020B0604020202020204" pitchFamily="34" charset="0"/>
              </a:rPr>
              <a:t> Rasa Core</a:t>
            </a:r>
            <a:endParaRPr lang="en-US" sz="2200" b="1" dirty="0"/>
          </a:p>
        </p:txBody>
      </p:sp>
      <p:sp>
        <p:nvSpPr>
          <p:cNvPr id="14" name="Rectangle 5">
            <a:extLst>
              <a:ext uri="{FF2B5EF4-FFF2-40B4-BE49-F238E27FC236}">
                <a16:creationId xmlns:a16="http://schemas.microsoft.com/office/drawing/2014/main" id="{1D88E2B6-529B-F366-E4E5-BC5E10142CC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5" name="Picture 14" descr="A diagram of a computer component&#10;&#10;AI-generated content may be incorrect.">
            <a:extLst>
              <a:ext uri="{FF2B5EF4-FFF2-40B4-BE49-F238E27FC236}">
                <a16:creationId xmlns:a16="http://schemas.microsoft.com/office/drawing/2014/main" id="{A7AF2109-ED3D-AF22-A881-419D640C0A0E}"/>
              </a:ext>
            </a:extLst>
          </p:cNvPr>
          <p:cNvPicPr>
            <a:picLocks noChangeAspect="1"/>
          </p:cNvPicPr>
          <p:nvPr/>
        </p:nvPicPr>
        <p:blipFill>
          <a:blip r:embed="rId2"/>
          <a:stretch>
            <a:fillRect/>
          </a:stretch>
        </p:blipFill>
        <p:spPr>
          <a:xfrm>
            <a:off x="2149339" y="3637858"/>
            <a:ext cx="4753896" cy="322014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256AB-A8A5-8508-C7AC-011FA085CFAA}"/>
              </a:ext>
            </a:extLst>
          </p:cNvPr>
          <p:cNvSpPr>
            <a:spLocks noGrp="1"/>
          </p:cNvSpPr>
          <p:nvPr>
            <p:ph type="title"/>
          </p:nvPr>
        </p:nvSpPr>
        <p:spPr/>
        <p:txBody>
          <a:bodyPr/>
          <a:lstStyle/>
          <a:p>
            <a:pPr algn="l"/>
            <a:r>
              <a:rPr lang="vi-VN" b="1" dirty="0">
                <a:solidFill>
                  <a:srgbClr val="000000"/>
                </a:solidFill>
                <a:latin typeface="Tahoma Bold"/>
                <a:ea typeface="Tahoma Bold"/>
                <a:cs typeface="Tahoma Bold"/>
                <a:sym typeface="Tahoma Bold"/>
              </a:rPr>
              <a:t>III. Kết quả đạt được</a:t>
            </a:r>
            <a:endParaRPr lang="en-US" dirty="0"/>
          </a:p>
        </p:txBody>
      </p:sp>
      <p:sp>
        <p:nvSpPr>
          <p:cNvPr id="3" name="Content Placeholder 2">
            <a:extLst>
              <a:ext uri="{FF2B5EF4-FFF2-40B4-BE49-F238E27FC236}">
                <a16:creationId xmlns:a16="http://schemas.microsoft.com/office/drawing/2014/main" id="{3531D148-9680-1A4C-6326-2454C6102884}"/>
              </a:ext>
            </a:extLst>
          </p:cNvPr>
          <p:cNvSpPr>
            <a:spLocks noGrp="1"/>
          </p:cNvSpPr>
          <p:nvPr>
            <p:ph idx="1"/>
          </p:nvPr>
        </p:nvSpPr>
        <p:spPr>
          <a:xfrm>
            <a:off x="609598" y="1270000"/>
            <a:ext cx="6347714" cy="3880773"/>
          </a:xfrm>
        </p:spPr>
        <p:txBody>
          <a:bodyPr>
            <a:normAutofit/>
          </a:bodyPr>
          <a:lstStyle/>
          <a:p>
            <a:pPr marL="0" indent="0">
              <a:buNone/>
            </a:pPr>
            <a:r>
              <a:rPr lang="en-US" sz="2400" b="1" dirty="0"/>
              <a:t>3. </a:t>
            </a:r>
            <a:r>
              <a:rPr lang="en-US" sz="2400" b="1" dirty="0" err="1"/>
              <a:t>Kết</a:t>
            </a:r>
            <a:r>
              <a:rPr lang="en-US" sz="2400" b="1" dirty="0"/>
              <a:t> </a:t>
            </a:r>
            <a:r>
              <a:rPr lang="en-US" sz="2400" b="1" dirty="0" err="1"/>
              <a:t>quả</a:t>
            </a:r>
            <a:r>
              <a:rPr lang="en-US" sz="2400" b="1" dirty="0"/>
              <a:t> </a:t>
            </a:r>
            <a:r>
              <a:rPr lang="en-US" sz="2400" b="1" dirty="0" err="1"/>
              <a:t>về</a:t>
            </a:r>
            <a:r>
              <a:rPr lang="en-US" sz="2400" b="1" dirty="0"/>
              <a:t> </a:t>
            </a:r>
            <a:r>
              <a:rPr lang="en-US" sz="2400" b="1" dirty="0" err="1"/>
              <a:t>chức</a:t>
            </a:r>
            <a:r>
              <a:rPr lang="en-US" sz="2400" b="1" dirty="0"/>
              <a:t> </a:t>
            </a:r>
            <a:r>
              <a:rPr lang="en-US" sz="2400" b="1" dirty="0" err="1"/>
              <a:t>năng</a:t>
            </a:r>
            <a:endParaRPr lang="en-US" sz="2400" b="1" dirty="0"/>
          </a:p>
          <a:p>
            <a:pPr marL="0" lvl="0" indent="0" defTabSz="914400" eaLnBrk="0" fontAlgn="base" hangingPunct="0">
              <a:lnSpc>
                <a:spcPct val="150000"/>
              </a:lnSpc>
              <a:spcBef>
                <a:spcPts val="0"/>
              </a:spcBef>
              <a:spcAft>
                <a:spcPts val="600"/>
              </a:spcAft>
              <a:buNone/>
            </a:pPr>
            <a:r>
              <a:rPr lang="en-US" altLang="en-US" sz="2200" dirty="0">
                <a:latin typeface="Arial" panose="020B0604020202020204" pitchFamily="34" charset="0"/>
              </a:rPr>
              <a:t>- </a:t>
            </a:r>
            <a:r>
              <a:rPr lang="en-US" altLang="en-US" sz="2200" dirty="0" err="1">
                <a:latin typeface="Arial" panose="020B0604020202020204" pitchFamily="34" charset="0"/>
              </a:rPr>
              <a:t>Hỗ</a:t>
            </a:r>
            <a:r>
              <a:rPr lang="en-US" altLang="en-US" sz="2200" dirty="0">
                <a:latin typeface="Arial" panose="020B0604020202020204" pitchFamily="34" charset="0"/>
              </a:rPr>
              <a:t> </a:t>
            </a:r>
            <a:r>
              <a:rPr lang="en-US" altLang="en-US" sz="2200" dirty="0" err="1">
                <a:latin typeface="Arial" panose="020B0604020202020204" pitchFamily="34" charset="0"/>
              </a:rPr>
              <a:t>trợ</a:t>
            </a:r>
            <a:r>
              <a:rPr lang="en-US" altLang="en-US" sz="2200" dirty="0">
                <a:latin typeface="Arial" panose="020B0604020202020204" pitchFamily="34" charset="0"/>
              </a:rPr>
              <a:t> </a:t>
            </a:r>
            <a:r>
              <a:rPr lang="en-US" altLang="en-US" sz="2200" dirty="0" err="1">
                <a:latin typeface="Arial" panose="020B0604020202020204" pitchFamily="34" charset="0"/>
              </a:rPr>
              <a:t>tra</a:t>
            </a:r>
            <a:r>
              <a:rPr lang="en-US" altLang="en-US" sz="2200" dirty="0">
                <a:latin typeface="Arial" panose="020B0604020202020204" pitchFamily="34" charset="0"/>
              </a:rPr>
              <a:t> </a:t>
            </a:r>
            <a:r>
              <a:rPr lang="en-US" altLang="en-US" sz="2200" dirty="0" err="1">
                <a:latin typeface="Arial" panose="020B0604020202020204" pitchFamily="34" charset="0"/>
              </a:rPr>
              <a:t>cứu</a:t>
            </a:r>
            <a:r>
              <a:rPr lang="en-US" altLang="en-US" sz="2200" dirty="0">
                <a:latin typeface="Arial" panose="020B0604020202020204" pitchFamily="34" charset="0"/>
              </a:rPr>
              <a:t> </a:t>
            </a:r>
            <a:r>
              <a:rPr lang="en-US" altLang="en-US" sz="2200" dirty="0" err="1">
                <a:latin typeface="Arial" panose="020B0604020202020204" pitchFamily="34" charset="0"/>
              </a:rPr>
              <a:t>lịch</a:t>
            </a:r>
            <a:r>
              <a:rPr lang="en-US" altLang="en-US" sz="2200" dirty="0">
                <a:latin typeface="Arial" panose="020B0604020202020204" pitchFamily="34" charset="0"/>
              </a:rPr>
              <a:t> </a:t>
            </a:r>
            <a:r>
              <a:rPr lang="en-US" altLang="en-US" sz="2200" dirty="0" err="1">
                <a:latin typeface="Arial" panose="020B0604020202020204" pitchFamily="34" charset="0"/>
              </a:rPr>
              <a:t>học</a:t>
            </a:r>
            <a:r>
              <a:rPr lang="en-US" altLang="en-US" sz="2200" dirty="0">
                <a:latin typeface="Arial" panose="020B0604020202020204" pitchFamily="34" charset="0"/>
              </a:rPr>
              <a:t>, </a:t>
            </a:r>
            <a:r>
              <a:rPr lang="en-US" altLang="en-US" sz="2200" dirty="0" err="1">
                <a:latin typeface="Arial" panose="020B0604020202020204" pitchFamily="34" charset="0"/>
              </a:rPr>
              <a:t>lịch</a:t>
            </a:r>
            <a:r>
              <a:rPr lang="en-US" altLang="en-US" sz="2200" dirty="0">
                <a:latin typeface="Arial" panose="020B0604020202020204" pitchFamily="34" charset="0"/>
              </a:rPr>
              <a:t> </a:t>
            </a:r>
            <a:r>
              <a:rPr lang="en-US" altLang="en-US" sz="2200" dirty="0" err="1">
                <a:latin typeface="Arial" panose="020B0604020202020204" pitchFamily="34" charset="0"/>
              </a:rPr>
              <a:t>thi</a:t>
            </a:r>
            <a:endParaRPr lang="en-US" altLang="en-US" sz="2200" dirty="0">
              <a:latin typeface="Arial" panose="020B0604020202020204" pitchFamily="34" charset="0"/>
            </a:endParaRPr>
          </a:p>
          <a:p>
            <a:pPr marL="0" lvl="0" indent="0" defTabSz="914400" eaLnBrk="0" fontAlgn="base" hangingPunct="0">
              <a:lnSpc>
                <a:spcPct val="150000"/>
              </a:lnSpc>
              <a:spcBef>
                <a:spcPts val="0"/>
              </a:spcBef>
              <a:spcAft>
                <a:spcPts val="600"/>
              </a:spcAft>
              <a:buNone/>
            </a:pPr>
            <a:r>
              <a:rPr lang="en-US" altLang="en-US" sz="2200" dirty="0">
                <a:latin typeface="Arial" panose="020B0604020202020204" pitchFamily="34" charset="0"/>
              </a:rPr>
              <a:t>- </a:t>
            </a:r>
            <a:r>
              <a:rPr lang="en-US" altLang="en-US" sz="2200" dirty="0" err="1">
                <a:latin typeface="Arial" panose="020B0604020202020204" pitchFamily="34" charset="0"/>
              </a:rPr>
              <a:t>Tư</a:t>
            </a:r>
            <a:r>
              <a:rPr lang="en-US" altLang="en-US" sz="2200" dirty="0">
                <a:latin typeface="Arial" panose="020B0604020202020204" pitchFamily="34" charset="0"/>
              </a:rPr>
              <a:t> </a:t>
            </a:r>
            <a:r>
              <a:rPr lang="en-US" altLang="en-US" sz="2200" dirty="0" err="1">
                <a:latin typeface="Arial" panose="020B0604020202020204" pitchFamily="34" charset="0"/>
              </a:rPr>
              <a:t>vấn</a:t>
            </a:r>
            <a:r>
              <a:rPr lang="en-US" altLang="en-US" sz="2200" dirty="0">
                <a:latin typeface="Arial" panose="020B0604020202020204" pitchFamily="34" charset="0"/>
              </a:rPr>
              <a:t> </a:t>
            </a:r>
            <a:r>
              <a:rPr lang="en-US" altLang="en-US" sz="2200" dirty="0" err="1">
                <a:latin typeface="Arial" panose="020B0604020202020204" pitchFamily="34" charset="0"/>
              </a:rPr>
              <a:t>học</a:t>
            </a:r>
            <a:r>
              <a:rPr lang="en-US" altLang="en-US" sz="2200" dirty="0">
                <a:latin typeface="Arial" panose="020B0604020202020204" pitchFamily="34" charset="0"/>
              </a:rPr>
              <a:t> </a:t>
            </a:r>
            <a:r>
              <a:rPr lang="en-US" altLang="en-US" sz="2200" dirty="0" err="1">
                <a:latin typeface="Arial" panose="020B0604020202020204" pitchFamily="34" charset="0"/>
              </a:rPr>
              <a:t>phí</a:t>
            </a:r>
            <a:r>
              <a:rPr lang="en-US" altLang="en-US" sz="2200" dirty="0">
                <a:latin typeface="Arial" panose="020B0604020202020204" pitchFamily="34" charset="0"/>
              </a:rPr>
              <a:t> </a:t>
            </a:r>
            <a:r>
              <a:rPr lang="en-US" altLang="en-US" sz="2200" dirty="0" err="1">
                <a:latin typeface="Arial" panose="020B0604020202020204" pitchFamily="34" charset="0"/>
              </a:rPr>
              <a:t>theo</a:t>
            </a:r>
            <a:r>
              <a:rPr lang="en-US" altLang="en-US" sz="2200" dirty="0">
                <a:latin typeface="Arial" panose="020B0604020202020204" pitchFamily="34" charset="0"/>
              </a:rPr>
              <a:t> </a:t>
            </a:r>
            <a:r>
              <a:rPr lang="en-US" altLang="en-US" sz="2200" dirty="0" err="1">
                <a:latin typeface="Arial" panose="020B0604020202020204" pitchFamily="34" charset="0"/>
              </a:rPr>
              <a:t>ngành</a:t>
            </a:r>
            <a:r>
              <a:rPr lang="en-US" altLang="en-US" sz="2200" dirty="0">
                <a:latin typeface="Arial" panose="020B0604020202020204" pitchFamily="34" charset="0"/>
              </a:rPr>
              <a:t> </a:t>
            </a:r>
            <a:r>
              <a:rPr lang="en-US" altLang="en-US" sz="2200" dirty="0" err="1">
                <a:latin typeface="Arial" panose="020B0604020202020204" pitchFamily="34" charset="0"/>
              </a:rPr>
              <a:t>học</a:t>
            </a:r>
            <a:endParaRPr lang="en-US" altLang="en-US" sz="2200" dirty="0">
              <a:latin typeface="Arial" panose="020B0604020202020204" pitchFamily="34" charset="0"/>
            </a:endParaRPr>
          </a:p>
          <a:p>
            <a:pPr marL="0" lvl="0" indent="0" defTabSz="914400" eaLnBrk="0" fontAlgn="base" hangingPunct="0">
              <a:lnSpc>
                <a:spcPct val="150000"/>
              </a:lnSpc>
              <a:spcBef>
                <a:spcPts val="0"/>
              </a:spcBef>
              <a:spcAft>
                <a:spcPts val="600"/>
              </a:spcAft>
              <a:buNone/>
            </a:pPr>
            <a:r>
              <a:rPr lang="en-US" altLang="en-US" sz="2200" dirty="0">
                <a:latin typeface="Arial" panose="020B0604020202020204" pitchFamily="34" charset="0"/>
              </a:rPr>
              <a:t>- </a:t>
            </a:r>
            <a:r>
              <a:rPr lang="en-US" altLang="en-US" sz="2200" dirty="0" err="1">
                <a:latin typeface="Arial" panose="020B0604020202020204" pitchFamily="34" charset="0"/>
              </a:rPr>
              <a:t>Hướng</a:t>
            </a:r>
            <a:r>
              <a:rPr lang="en-US" altLang="en-US" sz="2200" dirty="0">
                <a:latin typeface="Arial" panose="020B0604020202020204" pitchFamily="34" charset="0"/>
              </a:rPr>
              <a:t> </a:t>
            </a:r>
            <a:r>
              <a:rPr lang="en-US" altLang="en-US" sz="2200" dirty="0" err="1">
                <a:latin typeface="Arial" panose="020B0604020202020204" pitchFamily="34" charset="0"/>
              </a:rPr>
              <a:t>dẫn</a:t>
            </a:r>
            <a:r>
              <a:rPr lang="en-US" altLang="en-US" sz="2200" dirty="0">
                <a:latin typeface="Arial" panose="020B0604020202020204" pitchFamily="34" charset="0"/>
              </a:rPr>
              <a:t> </a:t>
            </a:r>
            <a:r>
              <a:rPr lang="en-US" altLang="en-US" sz="2200" dirty="0" err="1">
                <a:latin typeface="Arial" panose="020B0604020202020204" pitchFamily="34" charset="0"/>
              </a:rPr>
              <a:t>thủ</a:t>
            </a:r>
            <a:r>
              <a:rPr lang="en-US" altLang="en-US" sz="2200" dirty="0">
                <a:latin typeface="Arial" panose="020B0604020202020204" pitchFamily="34" charset="0"/>
              </a:rPr>
              <a:t> </a:t>
            </a:r>
            <a:r>
              <a:rPr lang="en-US" altLang="en-US" sz="2200" dirty="0" err="1">
                <a:latin typeface="Arial" panose="020B0604020202020204" pitchFamily="34" charset="0"/>
              </a:rPr>
              <a:t>tục</a:t>
            </a:r>
            <a:r>
              <a:rPr lang="en-US" altLang="en-US" sz="2200" dirty="0">
                <a:latin typeface="Arial" panose="020B0604020202020204" pitchFamily="34" charset="0"/>
              </a:rPr>
              <a:t> </a:t>
            </a:r>
            <a:r>
              <a:rPr lang="en-US" altLang="en-US" sz="2200" dirty="0" err="1">
                <a:latin typeface="Arial" panose="020B0604020202020204" pitchFamily="34" charset="0"/>
              </a:rPr>
              <a:t>học</a:t>
            </a:r>
            <a:r>
              <a:rPr lang="en-US" altLang="en-US" sz="2200" dirty="0">
                <a:latin typeface="Arial" panose="020B0604020202020204" pitchFamily="34" charset="0"/>
              </a:rPr>
              <a:t> </a:t>
            </a:r>
            <a:r>
              <a:rPr lang="en-US" altLang="en-US" sz="2200" dirty="0" err="1">
                <a:latin typeface="Arial" panose="020B0604020202020204" pitchFamily="34" charset="0"/>
              </a:rPr>
              <a:t>vụ</a:t>
            </a:r>
            <a:r>
              <a:rPr lang="en-US" altLang="en-US" sz="2200" dirty="0">
                <a:latin typeface="Arial" panose="020B0604020202020204" pitchFamily="34" charset="0"/>
              </a:rPr>
              <a:t> </a:t>
            </a:r>
            <a:r>
              <a:rPr lang="en-US" altLang="en-US" sz="2200" dirty="0" err="1">
                <a:latin typeface="Arial" panose="020B0604020202020204" pitchFamily="34" charset="0"/>
              </a:rPr>
              <a:t>và</a:t>
            </a:r>
            <a:r>
              <a:rPr lang="en-US" altLang="en-US" sz="2200" dirty="0">
                <a:latin typeface="Arial" panose="020B0604020202020204" pitchFamily="34" charset="0"/>
              </a:rPr>
              <a:t> </a:t>
            </a:r>
            <a:r>
              <a:rPr lang="en-US" altLang="en-US" sz="2200" dirty="0" err="1">
                <a:latin typeface="Arial" panose="020B0604020202020204" pitchFamily="34" charset="0"/>
              </a:rPr>
              <a:t>tra</a:t>
            </a:r>
            <a:r>
              <a:rPr lang="en-US" altLang="en-US" sz="2200" dirty="0">
                <a:latin typeface="Arial" panose="020B0604020202020204" pitchFamily="34" charset="0"/>
              </a:rPr>
              <a:t> </a:t>
            </a:r>
            <a:r>
              <a:rPr lang="en-US" altLang="en-US" sz="2200" dirty="0" err="1">
                <a:latin typeface="Arial" panose="020B0604020202020204" pitchFamily="34" charset="0"/>
              </a:rPr>
              <a:t>cứu</a:t>
            </a:r>
            <a:r>
              <a:rPr lang="en-US" altLang="en-US" sz="2200" dirty="0">
                <a:latin typeface="Arial" panose="020B0604020202020204" pitchFamily="34" charset="0"/>
              </a:rPr>
              <a:t> </a:t>
            </a:r>
            <a:r>
              <a:rPr lang="en-US" altLang="en-US" sz="2200" dirty="0" err="1">
                <a:latin typeface="Arial" panose="020B0604020202020204" pitchFamily="34" charset="0"/>
              </a:rPr>
              <a:t>điểm</a:t>
            </a:r>
            <a:r>
              <a:rPr lang="en-US" altLang="en-US" sz="2200" dirty="0">
                <a:latin typeface="Arial" panose="020B0604020202020204" pitchFamily="34" charset="0"/>
              </a:rPr>
              <a:t> </a:t>
            </a:r>
            <a:r>
              <a:rPr lang="en-US" altLang="en-US" sz="2200" dirty="0" err="1">
                <a:latin typeface="Arial" panose="020B0604020202020204" pitchFamily="34" charset="0"/>
              </a:rPr>
              <a:t>rèn</a:t>
            </a:r>
            <a:r>
              <a:rPr lang="en-US" altLang="en-US" sz="2200" dirty="0">
                <a:latin typeface="Arial" panose="020B0604020202020204" pitchFamily="34" charset="0"/>
              </a:rPr>
              <a:t> </a:t>
            </a:r>
            <a:r>
              <a:rPr lang="en-US" altLang="en-US" sz="2200" dirty="0" err="1">
                <a:latin typeface="Arial" panose="020B0604020202020204" pitchFamily="34" charset="0"/>
              </a:rPr>
              <a:t>luyện</a:t>
            </a:r>
            <a:endParaRPr lang="en-US" altLang="en-US" sz="2200" dirty="0">
              <a:latin typeface="Arial" panose="020B0604020202020204" pitchFamily="34" charset="0"/>
            </a:endParaRPr>
          </a:p>
          <a:p>
            <a:pPr marL="0" indent="0">
              <a:buNone/>
            </a:pPr>
            <a:endParaRPr lang="en-US" sz="2400" b="1" dirty="0"/>
          </a:p>
        </p:txBody>
      </p:sp>
      <p:sp>
        <p:nvSpPr>
          <p:cNvPr id="4" name="Rectangle 1">
            <a:extLst>
              <a:ext uri="{FF2B5EF4-FFF2-40B4-BE49-F238E27FC236}">
                <a16:creationId xmlns:a16="http://schemas.microsoft.com/office/drawing/2014/main" id="{81CB1EB0-6F12-D1C6-B729-FC407BDABB47}"/>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197E7F48-B261-9CA2-D109-ABC9BA6CAB06}"/>
              </a:ext>
            </a:extLst>
          </p:cNvPr>
          <p:cNvPicPr>
            <a:picLocks noChangeAspect="1"/>
          </p:cNvPicPr>
          <p:nvPr/>
        </p:nvPicPr>
        <p:blipFill>
          <a:blip r:embed="rId2"/>
          <a:stretch>
            <a:fillRect/>
          </a:stretch>
        </p:blipFill>
        <p:spPr>
          <a:xfrm>
            <a:off x="4463845" y="3881284"/>
            <a:ext cx="4129805" cy="2753032"/>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B7065059-C62F-E130-636D-3D9C9953B1EE}"/>
              </a:ext>
            </a:extLst>
          </p:cNvPr>
          <p:cNvPicPr>
            <a:picLocks noChangeAspect="1"/>
          </p:cNvPicPr>
          <p:nvPr/>
        </p:nvPicPr>
        <p:blipFill>
          <a:blip r:embed="rId3"/>
          <a:stretch>
            <a:fillRect/>
          </a:stretch>
        </p:blipFill>
        <p:spPr>
          <a:xfrm>
            <a:off x="334226" y="3881284"/>
            <a:ext cx="4036469" cy="2753032"/>
          </a:xfrm>
          <a:prstGeom prst="rect">
            <a:avLst/>
          </a:prstGeom>
        </p:spPr>
      </p:pic>
    </p:spTree>
    <p:extLst>
      <p:ext uri="{BB962C8B-B14F-4D97-AF65-F5344CB8AC3E}">
        <p14:creationId xmlns:p14="http://schemas.microsoft.com/office/powerpoint/2010/main" val="3493842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371ED-ECA2-BC06-ADA0-71BC9FE19BB4}"/>
              </a:ext>
            </a:extLst>
          </p:cNvPr>
          <p:cNvSpPr>
            <a:spLocks noGrp="1"/>
          </p:cNvSpPr>
          <p:nvPr>
            <p:ph type="title"/>
          </p:nvPr>
        </p:nvSpPr>
        <p:spPr/>
        <p:txBody>
          <a:bodyPr/>
          <a:lstStyle/>
          <a:p>
            <a:pPr algn="l"/>
            <a:r>
              <a:rPr lang="vi-VN" b="1" dirty="0">
                <a:solidFill>
                  <a:srgbClr val="000000"/>
                </a:solidFill>
                <a:latin typeface="Tahoma Bold"/>
                <a:ea typeface="Tahoma Bold"/>
                <a:cs typeface="Tahoma Bold"/>
                <a:sym typeface="Tahoma Bold"/>
              </a:rPr>
              <a:t>III. Kết quả đạt được</a:t>
            </a:r>
            <a:endParaRPr lang="en-US" dirty="0"/>
          </a:p>
        </p:txBody>
      </p:sp>
      <p:sp>
        <p:nvSpPr>
          <p:cNvPr id="3" name="Content Placeholder 2">
            <a:extLst>
              <a:ext uri="{FF2B5EF4-FFF2-40B4-BE49-F238E27FC236}">
                <a16:creationId xmlns:a16="http://schemas.microsoft.com/office/drawing/2014/main" id="{93DBCC14-0E3A-2537-823E-FE1D32D55595}"/>
              </a:ext>
            </a:extLst>
          </p:cNvPr>
          <p:cNvSpPr>
            <a:spLocks noGrp="1"/>
          </p:cNvSpPr>
          <p:nvPr>
            <p:ph idx="1"/>
          </p:nvPr>
        </p:nvSpPr>
        <p:spPr>
          <a:xfrm>
            <a:off x="457200" y="1600200"/>
            <a:ext cx="3682181" cy="4525963"/>
          </a:xfrm>
        </p:spPr>
        <p:txBody>
          <a:bodyPr/>
          <a:lstStyle/>
          <a:p>
            <a:pPr marL="0" indent="0">
              <a:buNone/>
            </a:pPr>
            <a:r>
              <a:rPr lang="en-US" sz="2400" b="1" dirty="0"/>
              <a:t>4. </a:t>
            </a:r>
            <a:r>
              <a:rPr lang="vi-VN" sz="2400" b="1" dirty="0"/>
              <a:t>Kết quả về hiệu quả sử dụng</a:t>
            </a:r>
          </a:p>
          <a:p>
            <a:pPr marL="0" indent="0">
              <a:buNone/>
            </a:pPr>
            <a:r>
              <a:rPr lang="en-US" sz="2400" dirty="0"/>
              <a:t>- </a:t>
            </a:r>
            <a:r>
              <a:rPr lang="vi-VN" sz="2400" dirty="0"/>
              <a:t>Phản hồi nhanh, chính xác các câu hỏi học vụ phổ biến</a:t>
            </a:r>
          </a:p>
          <a:p>
            <a:pPr marL="0" indent="0">
              <a:buNone/>
            </a:pPr>
            <a:r>
              <a:rPr lang="en-US" sz="2400" dirty="0"/>
              <a:t>- </a:t>
            </a:r>
            <a:r>
              <a:rPr lang="vi-VN" sz="2400" dirty="0"/>
              <a:t>Giảm tải công việc tư vấn thủ công cho cán bộ học vụ</a:t>
            </a:r>
          </a:p>
          <a:p>
            <a:pPr marL="0" indent="0">
              <a:buNone/>
            </a:pPr>
            <a:r>
              <a:rPr lang="en-US" sz="2400" dirty="0"/>
              <a:t>- </a:t>
            </a:r>
            <a:r>
              <a:rPr lang="vi-VN" sz="2400" dirty="0"/>
              <a:t>Nâng cao trải nghiệm và sự hài lòng của sinh viên</a:t>
            </a:r>
          </a:p>
          <a:p>
            <a:pPr marL="0" indent="0">
              <a:buNone/>
            </a:pPr>
            <a:endParaRPr lang="en-US" dirty="0"/>
          </a:p>
        </p:txBody>
      </p:sp>
      <p:pic>
        <p:nvPicPr>
          <p:cNvPr id="4" name="Picture 3" descr="A screenshot of a computer&#10;&#10;AI-generated content may be incorrect.">
            <a:extLst>
              <a:ext uri="{FF2B5EF4-FFF2-40B4-BE49-F238E27FC236}">
                <a16:creationId xmlns:a16="http://schemas.microsoft.com/office/drawing/2014/main" id="{1E5E4518-2CCB-4D6B-1AB3-0B6B1785A16E}"/>
              </a:ext>
            </a:extLst>
          </p:cNvPr>
          <p:cNvPicPr>
            <a:picLocks noChangeAspect="1"/>
          </p:cNvPicPr>
          <p:nvPr/>
        </p:nvPicPr>
        <p:blipFill>
          <a:blip r:embed="rId3"/>
          <a:stretch>
            <a:fillRect/>
          </a:stretch>
        </p:blipFill>
        <p:spPr>
          <a:xfrm>
            <a:off x="3972231" y="1326357"/>
            <a:ext cx="4933623" cy="2691765"/>
          </a:xfrm>
          <a:prstGeom prst="rect">
            <a:avLst/>
          </a:prstGeom>
        </p:spPr>
      </p:pic>
      <p:pic>
        <p:nvPicPr>
          <p:cNvPr id="6" name="Picture 5">
            <a:extLst>
              <a:ext uri="{FF2B5EF4-FFF2-40B4-BE49-F238E27FC236}">
                <a16:creationId xmlns:a16="http://schemas.microsoft.com/office/drawing/2014/main" id="{39090962-D48C-3967-EDC3-296B3B4F8856}"/>
              </a:ext>
            </a:extLst>
          </p:cNvPr>
          <p:cNvPicPr>
            <a:picLocks noChangeAspect="1"/>
          </p:cNvPicPr>
          <p:nvPr/>
        </p:nvPicPr>
        <p:blipFill>
          <a:blip r:embed="rId4"/>
          <a:stretch>
            <a:fillRect/>
          </a:stretch>
        </p:blipFill>
        <p:spPr>
          <a:xfrm>
            <a:off x="4279491" y="4109403"/>
            <a:ext cx="4486252" cy="2676525"/>
          </a:xfrm>
          <a:prstGeom prst="rect">
            <a:avLst/>
          </a:prstGeom>
        </p:spPr>
      </p:pic>
    </p:spTree>
    <p:extLst>
      <p:ext uri="{BB962C8B-B14F-4D97-AF65-F5344CB8AC3E}">
        <p14:creationId xmlns:p14="http://schemas.microsoft.com/office/powerpoint/2010/main" val="584859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342C9-E7DD-7B75-300A-8A8C89FC6D6C}"/>
              </a:ext>
            </a:extLst>
          </p:cNvPr>
          <p:cNvSpPr>
            <a:spLocks noGrp="1"/>
          </p:cNvSpPr>
          <p:nvPr>
            <p:ph type="title"/>
          </p:nvPr>
        </p:nvSpPr>
        <p:spPr>
          <a:xfrm>
            <a:off x="358878" y="717090"/>
            <a:ext cx="8229600" cy="1143000"/>
          </a:xfrm>
        </p:spPr>
        <p:txBody>
          <a:bodyPr>
            <a:normAutofit/>
          </a:bodyPr>
          <a:lstStyle/>
          <a:p>
            <a:pPr algn="l"/>
            <a:r>
              <a:rPr lang="vi-VN" b="1" dirty="0">
                <a:solidFill>
                  <a:srgbClr val="000000"/>
                </a:solidFill>
                <a:latin typeface="Tahoma Bold"/>
                <a:ea typeface="Tahoma Bold"/>
                <a:cs typeface="Tahoma Bold"/>
                <a:sym typeface="Tahoma Bold"/>
              </a:rPr>
              <a:t>IV. HƯỚNG PHÁT TRIỂN</a:t>
            </a:r>
            <a:endParaRPr lang="en-US" dirty="0"/>
          </a:p>
        </p:txBody>
      </p:sp>
      <p:sp>
        <p:nvSpPr>
          <p:cNvPr id="5" name="Rectangle 2">
            <a:extLst>
              <a:ext uri="{FF2B5EF4-FFF2-40B4-BE49-F238E27FC236}">
                <a16:creationId xmlns:a16="http://schemas.microsoft.com/office/drawing/2014/main" id="{F11EA50A-B775-3F71-FDF5-7AFD70B6A42B}"/>
              </a:ext>
            </a:extLst>
          </p:cNvPr>
          <p:cNvSpPr>
            <a:spLocks noGrp="1" noChangeArrowheads="1"/>
          </p:cNvSpPr>
          <p:nvPr>
            <p:ph idx="1"/>
          </p:nvPr>
        </p:nvSpPr>
        <p:spPr bwMode="auto">
          <a:xfrm>
            <a:off x="351503" y="1965252"/>
            <a:ext cx="8440994" cy="3826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ts val="600"/>
              </a:spcBef>
              <a:spcAft>
                <a:spcPts val="60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Tích</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hợp</a:t>
            </a:r>
            <a:r>
              <a:rPr kumimoji="0" lang="en-US" altLang="en-US" sz="1800" i="0" u="none" strike="noStrike" cap="none" normalizeH="0" baseline="0" dirty="0">
                <a:ln>
                  <a:noFill/>
                </a:ln>
                <a:solidFill>
                  <a:schemeClr val="tx1"/>
                </a:solidFill>
                <a:effectLst/>
                <a:latin typeface="Arial" panose="020B0604020202020204" pitchFamily="34" charset="0"/>
              </a:rPr>
              <a:t> chatbot </a:t>
            </a:r>
            <a:r>
              <a:rPr kumimoji="0" lang="en-US" altLang="en-US" sz="1800" i="0" u="none" strike="noStrike" cap="none" normalizeH="0" baseline="0" dirty="0" err="1">
                <a:ln>
                  <a:noFill/>
                </a:ln>
                <a:solidFill>
                  <a:schemeClr val="tx1"/>
                </a:solidFill>
                <a:effectLst/>
                <a:latin typeface="Arial" panose="020B0604020202020204" pitchFamily="34" charset="0"/>
              </a:rPr>
              <a:t>với</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cơ</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sở</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dữ</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liệu</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và</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hệ</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thống</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quản</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lý</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đào</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tạo</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để</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cung</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cấp</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thông</a:t>
            </a:r>
            <a:r>
              <a:rPr kumimoji="0" lang="en-US" altLang="en-US" sz="1800" i="0" u="none" strike="noStrike" cap="none" normalizeH="0" baseline="0" dirty="0">
                <a:ln>
                  <a:noFill/>
                </a:ln>
                <a:solidFill>
                  <a:schemeClr val="tx1"/>
                </a:solidFill>
                <a:effectLst/>
                <a:latin typeface="Arial" panose="020B0604020202020204" pitchFamily="34" charset="0"/>
              </a:rPr>
              <a:t> tin </a:t>
            </a:r>
            <a:r>
              <a:rPr kumimoji="0" lang="en-US" altLang="en-US" sz="1800" i="0" u="none" strike="noStrike" cap="none" normalizeH="0" baseline="0" dirty="0" err="1">
                <a:ln>
                  <a:noFill/>
                </a:ln>
                <a:solidFill>
                  <a:schemeClr val="tx1"/>
                </a:solidFill>
                <a:effectLst/>
                <a:latin typeface="Arial" panose="020B0604020202020204" pitchFamily="34" charset="0"/>
              </a:rPr>
              <a:t>theo</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thời</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gian</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thực</a:t>
            </a:r>
            <a:r>
              <a:rPr kumimoji="0" lang="en-US" altLang="en-US" sz="180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ts val="600"/>
              </a:spcBef>
              <a:spcAft>
                <a:spcPts val="600"/>
              </a:spcAft>
              <a:buClrTx/>
              <a:buSzTx/>
              <a:buNone/>
              <a:tabLst/>
            </a:pP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Mở</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rộng</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phạm</a:t>
            </a:r>
            <a:r>
              <a:rPr kumimoji="0" lang="en-US" altLang="en-US" sz="1800" i="0" u="none" strike="noStrike" cap="none" normalizeH="0" baseline="0" dirty="0">
                <a:ln>
                  <a:noFill/>
                </a:ln>
                <a:solidFill>
                  <a:schemeClr val="tx1"/>
                </a:solidFill>
                <a:effectLst/>
                <a:latin typeface="Arial" panose="020B0604020202020204" pitchFamily="34" charset="0"/>
              </a:rPr>
              <a:t> vi </a:t>
            </a:r>
            <a:r>
              <a:rPr kumimoji="0" lang="en-US" altLang="en-US" sz="1800" i="0" u="none" strike="noStrike" cap="none" normalizeH="0" baseline="0" dirty="0" err="1">
                <a:ln>
                  <a:noFill/>
                </a:ln>
                <a:solidFill>
                  <a:schemeClr val="tx1"/>
                </a:solidFill>
                <a:effectLst/>
                <a:latin typeface="Arial" panose="020B0604020202020204" pitchFamily="34" charset="0"/>
              </a:rPr>
              <a:t>tư</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vấn</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học</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vụ</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bổ</a:t>
            </a:r>
            <a:r>
              <a:rPr kumimoji="0" lang="en-US" altLang="en-US" sz="1800" i="0" u="none" strike="noStrike" cap="none" normalizeH="0" baseline="0" dirty="0">
                <a:ln>
                  <a:noFill/>
                </a:ln>
                <a:solidFill>
                  <a:schemeClr val="tx1"/>
                </a:solidFill>
                <a:effectLst/>
                <a:latin typeface="Arial" panose="020B0604020202020204" pitchFamily="34" charset="0"/>
              </a:rPr>
              <a:t> sung </a:t>
            </a:r>
            <a:r>
              <a:rPr kumimoji="0" lang="en-US" altLang="en-US" sz="1800" i="0" u="none" strike="noStrike" cap="none" normalizeH="0" baseline="0" dirty="0" err="1">
                <a:ln>
                  <a:noFill/>
                </a:ln>
                <a:solidFill>
                  <a:schemeClr val="tx1"/>
                </a:solidFill>
                <a:effectLst/>
                <a:latin typeface="Arial" panose="020B0604020202020204" pitchFamily="34" charset="0"/>
              </a:rPr>
              <a:t>thêm</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các</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chức</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năng</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nâng</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cao</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như</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đăng</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ký</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học</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phần</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tra</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cứu</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kết</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quả</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học</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tập</a:t>
            </a:r>
            <a:r>
              <a:rPr kumimoji="0" lang="en-US" altLang="en-US" sz="180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ts val="600"/>
              </a:spcBef>
              <a:spcAft>
                <a:spcPts val="600"/>
              </a:spcAft>
              <a:buClrTx/>
              <a:buSzTx/>
              <a:buNone/>
              <a:tabLst/>
            </a:pP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Nâng</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cao</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khả</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năng</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xử</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lý</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ngôn</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ngữ</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tự</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nhiên</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tiếng</a:t>
            </a:r>
            <a:r>
              <a:rPr kumimoji="0" lang="en-US" altLang="en-US" sz="1800" i="0" u="none" strike="noStrike" cap="none" normalizeH="0" baseline="0" dirty="0">
                <a:ln>
                  <a:noFill/>
                </a:ln>
                <a:solidFill>
                  <a:schemeClr val="tx1"/>
                </a:solidFill>
                <a:effectLst/>
                <a:latin typeface="Arial" panose="020B0604020202020204" pitchFamily="34" charset="0"/>
              </a:rPr>
              <a:t> Việt </a:t>
            </a:r>
            <a:r>
              <a:rPr kumimoji="0" lang="en-US" altLang="en-US" sz="1800" i="0" u="none" strike="noStrike" cap="none" normalizeH="0" baseline="0" dirty="0" err="1">
                <a:ln>
                  <a:noFill/>
                </a:ln>
                <a:solidFill>
                  <a:schemeClr val="tx1"/>
                </a:solidFill>
                <a:effectLst/>
                <a:latin typeface="Arial" panose="020B0604020202020204" pitchFamily="34" charset="0"/>
              </a:rPr>
              <a:t>nhằm</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tăng</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độ</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chính</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xác</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và</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tính</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linh</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hoạt</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của</a:t>
            </a:r>
            <a:r>
              <a:rPr kumimoji="0" lang="en-US" altLang="en-US" sz="1800" i="0" u="none" strike="noStrike" cap="none" normalizeH="0" baseline="0" dirty="0">
                <a:ln>
                  <a:noFill/>
                </a:ln>
                <a:solidFill>
                  <a:schemeClr val="tx1"/>
                </a:solidFill>
                <a:effectLst/>
                <a:latin typeface="Arial" panose="020B0604020202020204" pitchFamily="34" charset="0"/>
              </a:rPr>
              <a:t> chatbot.</a:t>
            </a:r>
          </a:p>
          <a:p>
            <a:pPr marL="0" marR="0" lvl="0" indent="0" algn="l" defTabSz="914400" rtl="0" eaLnBrk="0" fontAlgn="base" latinLnBrk="0" hangingPunct="0">
              <a:lnSpc>
                <a:spcPct val="150000"/>
              </a:lnSpc>
              <a:spcBef>
                <a:spcPts val="600"/>
              </a:spcBef>
              <a:spcAft>
                <a:spcPts val="600"/>
              </a:spcAft>
              <a:buClrTx/>
              <a:buSzTx/>
              <a:buNone/>
              <a:tabLst/>
            </a:pP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Triển</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khai</a:t>
            </a:r>
            <a:r>
              <a:rPr kumimoji="0" lang="en-US" altLang="en-US" sz="1800" i="0" u="none" strike="noStrike" cap="none" normalizeH="0" baseline="0" dirty="0">
                <a:ln>
                  <a:noFill/>
                </a:ln>
                <a:solidFill>
                  <a:schemeClr val="tx1"/>
                </a:solidFill>
                <a:effectLst/>
                <a:latin typeface="Arial" panose="020B0604020202020204" pitchFamily="34" charset="0"/>
              </a:rPr>
              <a:t> chatbot </a:t>
            </a:r>
            <a:r>
              <a:rPr kumimoji="0" lang="en-US" altLang="en-US" sz="1800" i="0" u="none" strike="noStrike" cap="none" normalizeH="0" baseline="0" dirty="0" err="1">
                <a:ln>
                  <a:noFill/>
                </a:ln>
                <a:solidFill>
                  <a:schemeClr val="tx1"/>
                </a:solidFill>
                <a:effectLst/>
                <a:latin typeface="Arial" panose="020B0604020202020204" pitchFamily="34" charset="0"/>
              </a:rPr>
              <a:t>trên</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nhiều</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nền</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tảng</a:t>
            </a:r>
            <a:r>
              <a:rPr kumimoji="0" lang="en-US" altLang="en-US" sz="1800" i="0" u="none" strike="noStrike" cap="none" normalizeH="0" baseline="0" dirty="0">
                <a:ln>
                  <a:noFill/>
                </a:ln>
                <a:solidFill>
                  <a:schemeClr val="tx1"/>
                </a:solidFill>
                <a:effectLst/>
                <a:latin typeface="Arial" panose="020B0604020202020204" pitchFamily="34" charset="0"/>
              </a:rPr>
              <a:t> (website, </a:t>
            </a:r>
            <a:r>
              <a:rPr kumimoji="0" lang="en-US" altLang="en-US" sz="1800" i="0" u="none" strike="noStrike" cap="none" normalizeH="0" baseline="0" dirty="0" err="1">
                <a:ln>
                  <a:noFill/>
                </a:ln>
                <a:solidFill>
                  <a:schemeClr val="tx1"/>
                </a:solidFill>
                <a:effectLst/>
                <a:latin typeface="Arial" panose="020B0604020202020204" pitchFamily="34" charset="0"/>
              </a:rPr>
              <a:t>mạng</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xã</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hội</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ứng</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dụng</a:t>
            </a:r>
            <a:r>
              <a:rPr kumimoji="0" lang="en-US" altLang="en-US" sz="1800" i="0" u="none" strike="noStrike" cap="none" normalizeH="0" baseline="0" dirty="0">
                <a:ln>
                  <a:noFill/>
                </a:ln>
                <a:solidFill>
                  <a:schemeClr val="tx1"/>
                </a:solidFill>
                <a:effectLst/>
                <a:latin typeface="Arial" panose="020B0604020202020204" pitchFamily="34" charset="0"/>
              </a:rPr>
              <a:t> di </a:t>
            </a:r>
            <a:r>
              <a:rPr kumimoji="0" lang="en-US" altLang="en-US" sz="1800" i="0" u="none" strike="noStrike" cap="none" normalizeH="0" baseline="0" dirty="0" err="1">
                <a:ln>
                  <a:noFill/>
                </a:ln>
                <a:solidFill>
                  <a:schemeClr val="tx1"/>
                </a:solidFill>
                <a:effectLst/>
                <a:latin typeface="Arial" panose="020B0604020202020204" pitchFamily="34" charset="0"/>
              </a:rPr>
              <a:t>động</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để</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tăng</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khả</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năng</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tiếp</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cận</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sinh</a:t>
            </a:r>
            <a:r>
              <a:rPr kumimoji="0" lang="en-US" altLang="en-US" sz="180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err="1">
                <a:ln>
                  <a:noFill/>
                </a:ln>
                <a:solidFill>
                  <a:schemeClr val="tx1"/>
                </a:solidFill>
                <a:effectLst/>
                <a:latin typeface="Arial" panose="020B0604020202020204" pitchFamily="34" charset="0"/>
              </a:rPr>
              <a:t>viên</a:t>
            </a:r>
            <a:r>
              <a:rPr kumimoji="0" lang="en-US" altLang="en-US" sz="180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983130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lnSpc>
                <a:spcPts val="3831"/>
              </a:lnSpc>
            </a:pPr>
            <a:r>
              <a:rPr lang="vi-VN" b="1" dirty="0">
                <a:solidFill>
                  <a:srgbClr val="000000"/>
                </a:solidFill>
                <a:latin typeface="Tahoma Bold"/>
                <a:ea typeface="Tahoma Bold"/>
                <a:cs typeface="Tahoma Bold"/>
                <a:sym typeface="Tahoma Bold"/>
              </a:rPr>
              <a:t>V. </a:t>
            </a:r>
            <a:r>
              <a:rPr lang="en-US" b="1" dirty="0" err="1">
                <a:solidFill>
                  <a:srgbClr val="000000"/>
                </a:solidFill>
                <a:latin typeface="Tahoma Bold"/>
                <a:ea typeface="Tahoma Bold"/>
                <a:cs typeface="Tahoma Bold"/>
                <a:sym typeface="Tahoma Bold"/>
              </a:rPr>
              <a:t>Ưu</a:t>
            </a:r>
            <a:r>
              <a:rPr lang="en-US" b="1" dirty="0">
                <a:solidFill>
                  <a:srgbClr val="000000"/>
                </a:solidFill>
                <a:latin typeface="Tahoma Bold"/>
                <a:ea typeface="Tahoma Bold"/>
                <a:cs typeface="Tahoma Bold"/>
                <a:sym typeface="Tahoma Bold"/>
              </a:rPr>
              <a:t> </a:t>
            </a:r>
            <a:r>
              <a:rPr lang="en-US" b="1" dirty="0" err="1">
                <a:solidFill>
                  <a:srgbClr val="000000"/>
                </a:solidFill>
                <a:latin typeface="Tahoma Bold"/>
                <a:ea typeface="Tahoma Bold"/>
                <a:cs typeface="Tahoma Bold"/>
                <a:sym typeface="Tahoma Bold"/>
              </a:rPr>
              <a:t>điểm</a:t>
            </a:r>
            <a:r>
              <a:rPr lang="en-US" b="1" dirty="0">
                <a:solidFill>
                  <a:srgbClr val="000000"/>
                </a:solidFill>
                <a:latin typeface="Tahoma Bold"/>
                <a:ea typeface="Tahoma Bold"/>
                <a:cs typeface="Tahoma Bold"/>
                <a:sym typeface="Tahoma Bold"/>
              </a:rPr>
              <a:t> </a:t>
            </a:r>
            <a:r>
              <a:rPr lang="en-US" b="1" dirty="0" err="1">
                <a:solidFill>
                  <a:srgbClr val="000000"/>
                </a:solidFill>
                <a:latin typeface="Tahoma Bold"/>
                <a:ea typeface="Tahoma Bold"/>
                <a:cs typeface="Tahoma Bold"/>
                <a:sym typeface="Tahoma Bold"/>
              </a:rPr>
              <a:t>và</a:t>
            </a:r>
            <a:r>
              <a:rPr lang="en-US" b="1" dirty="0">
                <a:solidFill>
                  <a:srgbClr val="000000"/>
                </a:solidFill>
                <a:latin typeface="Tahoma Bold"/>
                <a:ea typeface="Tahoma Bold"/>
                <a:cs typeface="Tahoma Bold"/>
                <a:sym typeface="Tahoma Bold"/>
              </a:rPr>
              <a:t> </a:t>
            </a:r>
            <a:r>
              <a:rPr lang="en-US" b="1" dirty="0" err="1">
                <a:solidFill>
                  <a:srgbClr val="000000"/>
                </a:solidFill>
                <a:latin typeface="Tahoma Bold"/>
                <a:ea typeface="Tahoma Bold"/>
                <a:cs typeface="Tahoma Bold"/>
                <a:sym typeface="Tahoma Bold"/>
              </a:rPr>
              <a:t>nhược</a:t>
            </a:r>
            <a:r>
              <a:rPr lang="en-US" b="1" dirty="0">
                <a:solidFill>
                  <a:srgbClr val="000000"/>
                </a:solidFill>
                <a:latin typeface="Tahoma Bold"/>
                <a:ea typeface="Tahoma Bold"/>
                <a:cs typeface="Tahoma Bold"/>
                <a:sym typeface="Tahoma Bold"/>
              </a:rPr>
              <a:t> </a:t>
            </a:r>
            <a:r>
              <a:rPr lang="en-US" b="1" dirty="0" err="1">
                <a:solidFill>
                  <a:srgbClr val="000000"/>
                </a:solidFill>
                <a:latin typeface="Tahoma Bold"/>
                <a:ea typeface="Tahoma Bold"/>
                <a:cs typeface="Tahoma Bold"/>
                <a:sym typeface="Tahoma Bold"/>
              </a:rPr>
              <a:t>điểm</a:t>
            </a:r>
            <a:endParaRPr lang="vi-VN" b="1" dirty="0">
              <a:solidFill>
                <a:srgbClr val="000000"/>
              </a:solidFill>
              <a:latin typeface="Tahoma Bold"/>
              <a:ea typeface="Tahoma Bold"/>
              <a:cs typeface="Tahoma Bold"/>
              <a:sym typeface="Tahoma Bold"/>
            </a:endParaRPr>
          </a:p>
        </p:txBody>
      </p:sp>
      <p:sp>
        <p:nvSpPr>
          <p:cNvPr id="3" name="Content Placeholder 2"/>
          <p:cNvSpPr>
            <a:spLocks noGrp="1"/>
          </p:cNvSpPr>
          <p:nvPr>
            <p:ph idx="1"/>
          </p:nvPr>
        </p:nvSpPr>
        <p:spPr/>
        <p:txBody>
          <a:bodyPr>
            <a:normAutofit/>
          </a:bodyPr>
          <a:lstStyle/>
          <a:p>
            <a:pPr marL="0" indent="0">
              <a:buNone/>
            </a:pPr>
            <a:r>
              <a:rPr lang="en-US" b="1" dirty="0"/>
              <a:t>1. </a:t>
            </a:r>
            <a:r>
              <a:rPr b="1" dirty="0" err="1"/>
              <a:t>Ưu</a:t>
            </a:r>
            <a:r>
              <a:rPr b="1" dirty="0"/>
              <a:t> </a:t>
            </a:r>
            <a:r>
              <a:rPr b="1" dirty="0" err="1"/>
              <a:t>điểm</a:t>
            </a:r>
            <a:endParaRPr lang="en-US" b="1" dirty="0"/>
          </a:p>
          <a:p>
            <a:r>
              <a:rPr lang="vi-VN" sz="2400" dirty="0" err="1"/>
              <a:t>Chatbot</a:t>
            </a:r>
            <a:r>
              <a:rPr lang="vi-VN" sz="2400" dirty="0"/>
              <a:t> hỗ trợ tư vấn học vụ tự động 24/7, không phụ thuộc thời gian hành chính.</a:t>
            </a:r>
          </a:p>
          <a:p>
            <a:r>
              <a:rPr lang="vi-VN" sz="2400" dirty="0"/>
              <a:t>Giao diện thân thiện, dễ sử dụng, phù hợp với đối tượng sinh viên.</a:t>
            </a:r>
          </a:p>
          <a:p>
            <a:r>
              <a:rPr lang="vi-VN" sz="2400" dirty="0"/>
              <a:t>Ứng dụng nền tảng </a:t>
            </a:r>
            <a:r>
              <a:rPr lang="vi-VN" sz="2400" dirty="0" err="1"/>
              <a:t>Rasa</a:t>
            </a:r>
            <a:r>
              <a:rPr lang="vi-VN" sz="2400" dirty="0"/>
              <a:t> mã nguồn mở, dễ mở rộng và tùy biến.</a:t>
            </a:r>
          </a:p>
          <a:p>
            <a:r>
              <a:rPr lang="vi-VN" sz="2400" dirty="0"/>
              <a:t>Góp phần giảm tải công việc cho cán bộ học vụ và nâng cao trải nghiệm sinh viên.</a:t>
            </a:r>
          </a:p>
          <a:p>
            <a:pPr marL="400050" lvl="1" indent="0">
              <a:buNone/>
            </a:pPr>
            <a:endParaRPr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5FE65-B4F5-5343-5AA8-A9CC32A3C3E3}"/>
              </a:ext>
            </a:extLst>
          </p:cNvPr>
          <p:cNvSpPr>
            <a:spLocks noGrp="1"/>
          </p:cNvSpPr>
          <p:nvPr>
            <p:ph type="title"/>
          </p:nvPr>
        </p:nvSpPr>
        <p:spPr>
          <a:xfrm>
            <a:off x="4916" y="274638"/>
            <a:ext cx="8229600" cy="1143000"/>
          </a:xfrm>
        </p:spPr>
        <p:txBody>
          <a:bodyPr/>
          <a:lstStyle/>
          <a:p>
            <a:r>
              <a:rPr lang="vi-VN" b="1" dirty="0">
                <a:solidFill>
                  <a:srgbClr val="000000"/>
                </a:solidFill>
                <a:latin typeface="Tahoma Bold"/>
                <a:ea typeface="Tahoma Bold"/>
                <a:cs typeface="Tahoma Bold"/>
                <a:sym typeface="Tahoma Bold"/>
              </a:rPr>
              <a:t>V. </a:t>
            </a:r>
            <a:r>
              <a:rPr lang="en-US" b="1" dirty="0" err="1">
                <a:solidFill>
                  <a:srgbClr val="000000"/>
                </a:solidFill>
                <a:latin typeface="Tahoma Bold"/>
                <a:ea typeface="Tahoma Bold"/>
                <a:cs typeface="Tahoma Bold"/>
                <a:sym typeface="Tahoma Bold"/>
              </a:rPr>
              <a:t>Ưu</a:t>
            </a:r>
            <a:r>
              <a:rPr lang="en-US" b="1" dirty="0">
                <a:solidFill>
                  <a:srgbClr val="000000"/>
                </a:solidFill>
                <a:latin typeface="Tahoma Bold"/>
                <a:ea typeface="Tahoma Bold"/>
                <a:cs typeface="Tahoma Bold"/>
                <a:sym typeface="Tahoma Bold"/>
              </a:rPr>
              <a:t> </a:t>
            </a:r>
            <a:r>
              <a:rPr lang="en-US" b="1" dirty="0" err="1">
                <a:solidFill>
                  <a:srgbClr val="000000"/>
                </a:solidFill>
                <a:latin typeface="Tahoma Bold"/>
                <a:ea typeface="Tahoma Bold"/>
                <a:cs typeface="Tahoma Bold"/>
                <a:sym typeface="Tahoma Bold"/>
              </a:rPr>
              <a:t>điểm</a:t>
            </a:r>
            <a:r>
              <a:rPr lang="en-US" b="1" dirty="0">
                <a:solidFill>
                  <a:srgbClr val="000000"/>
                </a:solidFill>
                <a:latin typeface="Tahoma Bold"/>
                <a:ea typeface="Tahoma Bold"/>
                <a:cs typeface="Tahoma Bold"/>
                <a:sym typeface="Tahoma Bold"/>
              </a:rPr>
              <a:t> </a:t>
            </a:r>
            <a:r>
              <a:rPr lang="en-US" b="1" dirty="0" err="1">
                <a:solidFill>
                  <a:srgbClr val="000000"/>
                </a:solidFill>
                <a:latin typeface="Tahoma Bold"/>
                <a:ea typeface="Tahoma Bold"/>
                <a:cs typeface="Tahoma Bold"/>
                <a:sym typeface="Tahoma Bold"/>
              </a:rPr>
              <a:t>và</a:t>
            </a:r>
            <a:r>
              <a:rPr lang="en-US" b="1" dirty="0">
                <a:solidFill>
                  <a:srgbClr val="000000"/>
                </a:solidFill>
                <a:latin typeface="Tahoma Bold"/>
                <a:ea typeface="Tahoma Bold"/>
                <a:cs typeface="Tahoma Bold"/>
                <a:sym typeface="Tahoma Bold"/>
              </a:rPr>
              <a:t> </a:t>
            </a:r>
            <a:r>
              <a:rPr lang="en-US" b="1" dirty="0" err="1">
                <a:solidFill>
                  <a:srgbClr val="000000"/>
                </a:solidFill>
                <a:latin typeface="Tahoma Bold"/>
                <a:ea typeface="Tahoma Bold"/>
                <a:cs typeface="Tahoma Bold"/>
                <a:sym typeface="Tahoma Bold"/>
              </a:rPr>
              <a:t>nhược</a:t>
            </a:r>
            <a:r>
              <a:rPr lang="en-US" b="1" dirty="0">
                <a:solidFill>
                  <a:srgbClr val="000000"/>
                </a:solidFill>
                <a:latin typeface="Tahoma Bold"/>
                <a:ea typeface="Tahoma Bold"/>
                <a:cs typeface="Tahoma Bold"/>
                <a:sym typeface="Tahoma Bold"/>
              </a:rPr>
              <a:t> </a:t>
            </a:r>
            <a:r>
              <a:rPr lang="en-US" b="1" dirty="0" err="1">
                <a:solidFill>
                  <a:srgbClr val="000000"/>
                </a:solidFill>
                <a:latin typeface="Tahoma Bold"/>
                <a:ea typeface="Tahoma Bold"/>
                <a:cs typeface="Tahoma Bold"/>
                <a:sym typeface="Tahoma Bold"/>
              </a:rPr>
              <a:t>điểm</a:t>
            </a:r>
            <a:endParaRPr lang="en-US" dirty="0"/>
          </a:p>
        </p:txBody>
      </p:sp>
      <p:sp>
        <p:nvSpPr>
          <p:cNvPr id="3" name="Content Placeholder 2">
            <a:extLst>
              <a:ext uri="{FF2B5EF4-FFF2-40B4-BE49-F238E27FC236}">
                <a16:creationId xmlns:a16="http://schemas.microsoft.com/office/drawing/2014/main" id="{62F54E98-5F05-55B4-C3E4-C82B89AE42C8}"/>
              </a:ext>
            </a:extLst>
          </p:cNvPr>
          <p:cNvSpPr>
            <a:spLocks noGrp="1"/>
          </p:cNvSpPr>
          <p:nvPr>
            <p:ph idx="1"/>
          </p:nvPr>
        </p:nvSpPr>
        <p:spPr/>
        <p:txBody>
          <a:bodyPr/>
          <a:lstStyle/>
          <a:p>
            <a:pPr marL="0" indent="0">
              <a:buNone/>
            </a:pPr>
            <a:r>
              <a:rPr lang="en-US" b="1" dirty="0"/>
              <a:t>2. </a:t>
            </a:r>
            <a:r>
              <a:rPr lang="en-US" b="1" dirty="0" err="1"/>
              <a:t>Nhược</a:t>
            </a:r>
            <a:r>
              <a:rPr lang="en-US" b="1" dirty="0"/>
              <a:t> </a:t>
            </a:r>
            <a:r>
              <a:rPr lang="en-US" b="1" dirty="0" err="1"/>
              <a:t>điểm</a:t>
            </a:r>
            <a:endParaRPr lang="en-US" altLang="en-US" b="1" dirty="0"/>
          </a:p>
          <a:p>
            <a:pPr marL="0" indent="0" defTabSz="914400" eaLnBrk="0" fontAlgn="base" hangingPunct="0">
              <a:spcBef>
                <a:spcPct val="0"/>
              </a:spcBef>
              <a:spcAft>
                <a:spcPct val="0"/>
              </a:spcAft>
              <a:buNone/>
            </a:pPr>
            <a:r>
              <a:rPr lang="en-US" altLang="en-US" sz="2400" dirty="0">
                <a:latin typeface="Arial" panose="020B0604020202020204" pitchFamily="34" charset="0"/>
              </a:rPr>
              <a:t>-</a:t>
            </a:r>
            <a:r>
              <a:rPr lang="en-US" altLang="en-US" sz="2400" b="1" dirty="0">
                <a:latin typeface="Arial" panose="020B0604020202020204" pitchFamily="34" charset="0"/>
              </a:rPr>
              <a:t> </a:t>
            </a:r>
            <a:r>
              <a:rPr lang="en-US" altLang="en-US" sz="2200" dirty="0">
                <a:latin typeface="Arial" panose="020B0604020202020204" pitchFamily="34" charset="0"/>
              </a:rPr>
              <a:t>Phạm vi </a:t>
            </a:r>
            <a:r>
              <a:rPr lang="en-US" altLang="en-US" sz="2200" dirty="0" err="1">
                <a:latin typeface="Arial" panose="020B0604020202020204" pitchFamily="34" charset="0"/>
              </a:rPr>
              <a:t>tư</a:t>
            </a:r>
            <a:r>
              <a:rPr lang="en-US" altLang="en-US" sz="2200" dirty="0">
                <a:latin typeface="Arial" panose="020B0604020202020204" pitchFamily="34" charset="0"/>
              </a:rPr>
              <a:t> </a:t>
            </a:r>
            <a:r>
              <a:rPr lang="en-US" altLang="en-US" sz="2200" dirty="0" err="1">
                <a:latin typeface="Arial" panose="020B0604020202020204" pitchFamily="34" charset="0"/>
              </a:rPr>
              <a:t>vấn</a:t>
            </a:r>
            <a:r>
              <a:rPr lang="en-US" altLang="en-US" sz="2200" dirty="0">
                <a:latin typeface="Arial" panose="020B0604020202020204" pitchFamily="34" charset="0"/>
              </a:rPr>
              <a:t> </a:t>
            </a:r>
            <a:r>
              <a:rPr lang="en-US" altLang="en-US" sz="2200" dirty="0" err="1">
                <a:latin typeface="Arial" panose="020B0604020202020204" pitchFamily="34" charset="0"/>
              </a:rPr>
              <a:t>còn</a:t>
            </a:r>
            <a:r>
              <a:rPr lang="en-US" altLang="en-US" sz="2200" dirty="0">
                <a:latin typeface="Arial" panose="020B0604020202020204" pitchFamily="34" charset="0"/>
              </a:rPr>
              <a:t> </a:t>
            </a:r>
            <a:r>
              <a:rPr lang="en-US" altLang="en-US" sz="2200" dirty="0" err="1">
                <a:latin typeface="Arial" panose="020B0604020202020204" pitchFamily="34" charset="0"/>
              </a:rPr>
              <a:t>giới</a:t>
            </a:r>
            <a:r>
              <a:rPr lang="en-US" altLang="en-US" sz="2200" dirty="0">
                <a:latin typeface="Arial" panose="020B0604020202020204" pitchFamily="34" charset="0"/>
              </a:rPr>
              <a:t> </a:t>
            </a:r>
            <a:r>
              <a:rPr lang="en-US" altLang="en-US" sz="2200" dirty="0" err="1">
                <a:latin typeface="Arial" panose="020B0604020202020204" pitchFamily="34" charset="0"/>
              </a:rPr>
              <a:t>hạn</a:t>
            </a:r>
            <a:r>
              <a:rPr lang="en-US" altLang="en-US" sz="2200" dirty="0">
                <a:latin typeface="Arial" panose="020B0604020202020204" pitchFamily="34" charset="0"/>
              </a:rPr>
              <a:t>, </a:t>
            </a:r>
            <a:r>
              <a:rPr lang="en-US" altLang="en-US" sz="2200" dirty="0" err="1">
                <a:latin typeface="Arial" panose="020B0604020202020204" pitchFamily="34" charset="0"/>
              </a:rPr>
              <a:t>chủ</a:t>
            </a:r>
            <a:r>
              <a:rPr lang="en-US" altLang="en-US" sz="2200" dirty="0">
                <a:latin typeface="Arial" panose="020B0604020202020204" pitchFamily="34" charset="0"/>
              </a:rPr>
              <a:t> </a:t>
            </a:r>
            <a:r>
              <a:rPr lang="en-US" altLang="en-US" sz="2200" dirty="0" err="1">
                <a:latin typeface="Arial" panose="020B0604020202020204" pitchFamily="34" charset="0"/>
              </a:rPr>
              <a:t>yếu</a:t>
            </a:r>
            <a:r>
              <a:rPr lang="en-US" altLang="en-US" sz="2200" dirty="0">
                <a:latin typeface="Arial" panose="020B0604020202020204" pitchFamily="34" charset="0"/>
              </a:rPr>
              <a:t> </a:t>
            </a:r>
            <a:r>
              <a:rPr lang="en-US" altLang="en-US" sz="2200" dirty="0" err="1">
                <a:latin typeface="Arial" panose="020B0604020202020204" pitchFamily="34" charset="0"/>
              </a:rPr>
              <a:t>hỗ</a:t>
            </a:r>
            <a:r>
              <a:rPr lang="en-US" altLang="en-US" sz="2200" dirty="0">
                <a:latin typeface="Arial" panose="020B0604020202020204" pitchFamily="34" charset="0"/>
              </a:rPr>
              <a:t> </a:t>
            </a:r>
            <a:r>
              <a:rPr lang="en-US" altLang="en-US" sz="2200" dirty="0" err="1">
                <a:latin typeface="Arial" panose="020B0604020202020204" pitchFamily="34" charset="0"/>
              </a:rPr>
              <a:t>trợ</a:t>
            </a:r>
            <a:r>
              <a:rPr lang="en-US" altLang="en-US" sz="2200" dirty="0">
                <a:latin typeface="Arial" panose="020B0604020202020204" pitchFamily="34" charset="0"/>
              </a:rPr>
              <a:t> </a:t>
            </a:r>
            <a:r>
              <a:rPr lang="en-US" altLang="en-US" sz="2200" dirty="0" err="1">
                <a:latin typeface="Arial" panose="020B0604020202020204" pitchFamily="34" charset="0"/>
              </a:rPr>
              <a:t>các</a:t>
            </a:r>
            <a:r>
              <a:rPr lang="en-US" altLang="en-US" sz="2200" dirty="0">
                <a:latin typeface="Arial" panose="020B0604020202020204" pitchFamily="34" charset="0"/>
              </a:rPr>
              <a:t> </a:t>
            </a:r>
            <a:r>
              <a:rPr lang="en-US" altLang="en-US" sz="2200" dirty="0" err="1">
                <a:latin typeface="Arial" panose="020B0604020202020204" pitchFamily="34" charset="0"/>
              </a:rPr>
              <a:t>nội</a:t>
            </a:r>
            <a:r>
              <a:rPr lang="en-US" altLang="en-US" sz="2200" dirty="0">
                <a:latin typeface="Arial" panose="020B0604020202020204" pitchFamily="34" charset="0"/>
              </a:rPr>
              <a:t> dung </a:t>
            </a:r>
            <a:r>
              <a:rPr lang="en-US" altLang="en-US" sz="2200" dirty="0" err="1">
                <a:latin typeface="Arial" panose="020B0604020202020204" pitchFamily="34" charset="0"/>
              </a:rPr>
              <a:t>học</a:t>
            </a:r>
            <a:r>
              <a:rPr lang="en-US" altLang="en-US" sz="2200" dirty="0">
                <a:latin typeface="Arial" panose="020B0604020202020204" pitchFamily="34" charset="0"/>
              </a:rPr>
              <a:t> </a:t>
            </a:r>
            <a:r>
              <a:rPr lang="en-US" altLang="en-US" sz="2200" dirty="0" err="1">
                <a:latin typeface="Arial" panose="020B0604020202020204" pitchFamily="34" charset="0"/>
              </a:rPr>
              <a:t>vụ</a:t>
            </a:r>
            <a:r>
              <a:rPr lang="en-US" altLang="en-US" sz="2200" dirty="0">
                <a:latin typeface="Arial" panose="020B0604020202020204" pitchFamily="34" charset="0"/>
              </a:rPr>
              <a:t> </a:t>
            </a:r>
            <a:r>
              <a:rPr lang="en-US" altLang="en-US" sz="2200" dirty="0" err="1">
                <a:latin typeface="Arial" panose="020B0604020202020204" pitchFamily="34" charset="0"/>
              </a:rPr>
              <a:t>cơ</a:t>
            </a:r>
            <a:r>
              <a:rPr lang="en-US" altLang="en-US" sz="2200" dirty="0">
                <a:latin typeface="Arial" panose="020B0604020202020204" pitchFamily="34" charset="0"/>
              </a:rPr>
              <a:t> </a:t>
            </a:r>
            <a:r>
              <a:rPr lang="en-US" altLang="en-US" sz="2200" dirty="0" err="1">
                <a:latin typeface="Arial" panose="020B0604020202020204" pitchFamily="34" charset="0"/>
              </a:rPr>
              <a:t>bản</a:t>
            </a:r>
            <a:r>
              <a:rPr lang="en-US" altLang="en-US" sz="2200" dirty="0">
                <a:latin typeface="Arial" panose="020B0604020202020204" pitchFamily="34" charset="0"/>
              </a:rPr>
              <a:t>.</a:t>
            </a:r>
          </a:p>
          <a:p>
            <a:pPr marL="0" indent="0" defTabSz="914400" eaLnBrk="0" fontAlgn="base" hangingPunct="0">
              <a:spcBef>
                <a:spcPct val="0"/>
              </a:spcBef>
              <a:spcAft>
                <a:spcPct val="0"/>
              </a:spcAft>
              <a:buNone/>
            </a:pPr>
            <a:r>
              <a:rPr lang="en-US" altLang="en-US" sz="2200" dirty="0">
                <a:latin typeface="Arial" panose="020B0604020202020204" pitchFamily="34" charset="0"/>
              </a:rPr>
              <a:t>- </a:t>
            </a:r>
            <a:r>
              <a:rPr lang="en-US" altLang="en-US" sz="2200" dirty="0" err="1">
                <a:latin typeface="Arial" panose="020B0604020202020204" pitchFamily="34" charset="0"/>
              </a:rPr>
              <a:t>Độ</a:t>
            </a:r>
            <a:r>
              <a:rPr lang="en-US" altLang="en-US" sz="2200" dirty="0">
                <a:latin typeface="Arial" panose="020B0604020202020204" pitchFamily="34" charset="0"/>
              </a:rPr>
              <a:t> </a:t>
            </a:r>
            <a:r>
              <a:rPr lang="en-US" altLang="en-US" sz="2200" dirty="0" err="1">
                <a:latin typeface="Arial" panose="020B0604020202020204" pitchFamily="34" charset="0"/>
              </a:rPr>
              <a:t>chính</a:t>
            </a:r>
            <a:r>
              <a:rPr lang="en-US" altLang="en-US" sz="2200" dirty="0">
                <a:latin typeface="Arial" panose="020B0604020202020204" pitchFamily="34" charset="0"/>
              </a:rPr>
              <a:t> </a:t>
            </a:r>
            <a:r>
              <a:rPr lang="en-US" altLang="en-US" sz="2200" dirty="0" err="1">
                <a:latin typeface="Arial" panose="020B0604020202020204" pitchFamily="34" charset="0"/>
              </a:rPr>
              <a:t>xác</a:t>
            </a:r>
            <a:r>
              <a:rPr lang="en-US" altLang="en-US" sz="2200" dirty="0">
                <a:latin typeface="Arial" panose="020B0604020202020204" pitchFamily="34" charset="0"/>
              </a:rPr>
              <a:t> </a:t>
            </a:r>
            <a:r>
              <a:rPr lang="en-US" altLang="en-US" sz="2200" dirty="0" err="1">
                <a:latin typeface="Arial" panose="020B0604020202020204" pitchFamily="34" charset="0"/>
              </a:rPr>
              <a:t>phụ</a:t>
            </a:r>
            <a:r>
              <a:rPr lang="en-US" altLang="en-US" sz="2200" dirty="0">
                <a:latin typeface="Arial" panose="020B0604020202020204" pitchFamily="34" charset="0"/>
              </a:rPr>
              <a:t> </a:t>
            </a:r>
            <a:r>
              <a:rPr lang="en-US" altLang="en-US" sz="2200" dirty="0" err="1">
                <a:latin typeface="Arial" panose="020B0604020202020204" pitchFamily="34" charset="0"/>
              </a:rPr>
              <a:t>thuộc</a:t>
            </a:r>
            <a:r>
              <a:rPr lang="en-US" altLang="en-US" sz="2200" dirty="0">
                <a:latin typeface="Arial" panose="020B0604020202020204" pitchFamily="34" charset="0"/>
              </a:rPr>
              <a:t> </a:t>
            </a:r>
            <a:r>
              <a:rPr lang="en-US" altLang="en-US" sz="2200" dirty="0" err="1">
                <a:latin typeface="Arial" panose="020B0604020202020204" pitchFamily="34" charset="0"/>
              </a:rPr>
              <a:t>nhiều</a:t>
            </a:r>
            <a:r>
              <a:rPr lang="en-US" altLang="en-US" sz="2200" dirty="0">
                <a:latin typeface="Arial" panose="020B0604020202020204" pitchFamily="34" charset="0"/>
              </a:rPr>
              <a:t> </a:t>
            </a:r>
            <a:r>
              <a:rPr lang="en-US" altLang="en-US" sz="2200" dirty="0" err="1">
                <a:latin typeface="Arial" panose="020B0604020202020204" pitchFamily="34" charset="0"/>
              </a:rPr>
              <a:t>vào</a:t>
            </a:r>
            <a:r>
              <a:rPr lang="en-US" altLang="en-US" sz="2200" dirty="0">
                <a:latin typeface="Arial" panose="020B0604020202020204" pitchFamily="34" charset="0"/>
              </a:rPr>
              <a:t> </a:t>
            </a:r>
            <a:r>
              <a:rPr lang="en-US" altLang="en-US" sz="2200" dirty="0" err="1">
                <a:latin typeface="Arial" panose="020B0604020202020204" pitchFamily="34" charset="0"/>
              </a:rPr>
              <a:t>chất</a:t>
            </a:r>
            <a:r>
              <a:rPr lang="en-US" altLang="en-US" sz="2200" dirty="0">
                <a:latin typeface="Arial" panose="020B0604020202020204" pitchFamily="34" charset="0"/>
              </a:rPr>
              <a:t> </a:t>
            </a:r>
            <a:r>
              <a:rPr lang="en-US" altLang="en-US" sz="2200" dirty="0" err="1">
                <a:latin typeface="Arial" panose="020B0604020202020204" pitchFamily="34" charset="0"/>
              </a:rPr>
              <a:t>lượng</a:t>
            </a:r>
            <a:r>
              <a:rPr lang="en-US" altLang="en-US" sz="2200" dirty="0">
                <a:latin typeface="Arial" panose="020B0604020202020204" pitchFamily="34" charset="0"/>
              </a:rPr>
              <a:t> </a:t>
            </a:r>
            <a:r>
              <a:rPr lang="en-US" altLang="en-US" sz="2200" dirty="0" err="1">
                <a:latin typeface="Arial" panose="020B0604020202020204" pitchFamily="34" charset="0"/>
              </a:rPr>
              <a:t>dữ</a:t>
            </a:r>
            <a:r>
              <a:rPr lang="en-US" altLang="en-US" sz="2200" dirty="0">
                <a:latin typeface="Arial" panose="020B0604020202020204" pitchFamily="34" charset="0"/>
              </a:rPr>
              <a:t> </a:t>
            </a:r>
            <a:r>
              <a:rPr lang="en-US" altLang="en-US" sz="2200" dirty="0" err="1">
                <a:latin typeface="Arial" panose="020B0604020202020204" pitchFamily="34" charset="0"/>
              </a:rPr>
              <a:t>liệu</a:t>
            </a:r>
            <a:r>
              <a:rPr lang="en-US" altLang="en-US" sz="2200" dirty="0">
                <a:latin typeface="Arial" panose="020B0604020202020204" pitchFamily="34" charset="0"/>
              </a:rPr>
              <a:t> </a:t>
            </a:r>
            <a:r>
              <a:rPr lang="en-US" altLang="en-US" sz="2200" dirty="0" err="1">
                <a:latin typeface="Arial" panose="020B0604020202020204" pitchFamily="34" charset="0"/>
              </a:rPr>
              <a:t>huấn</a:t>
            </a:r>
            <a:r>
              <a:rPr lang="en-US" altLang="en-US" sz="2200" dirty="0">
                <a:latin typeface="Arial" panose="020B0604020202020204" pitchFamily="34" charset="0"/>
              </a:rPr>
              <a:t> </a:t>
            </a:r>
            <a:r>
              <a:rPr lang="en-US" altLang="en-US" sz="2200" dirty="0" err="1">
                <a:latin typeface="Arial" panose="020B0604020202020204" pitchFamily="34" charset="0"/>
              </a:rPr>
              <a:t>luyện</a:t>
            </a:r>
            <a:r>
              <a:rPr lang="en-US" altLang="en-US" sz="2200" dirty="0">
                <a:latin typeface="Arial" panose="020B0604020202020204" pitchFamily="34" charset="0"/>
              </a:rPr>
              <a:t>.</a:t>
            </a:r>
          </a:p>
          <a:p>
            <a:pPr marL="0" indent="0" defTabSz="914400" eaLnBrk="0" fontAlgn="base" hangingPunct="0">
              <a:spcBef>
                <a:spcPct val="0"/>
              </a:spcBef>
              <a:spcAft>
                <a:spcPct val="0"/>
              </a:spcAft>
              <a:buNone/>
            </a:pPr>
            <a:r>
              <a:rPr lang="en-US" altLang="en-US" sz="2200" dirty="0">
                <a:latin typeface="Arial" panose="020B0604020202020204" pitchFamily="34" charset="0"/>
              </a:rPr>
              <a:t>- </a:t>
            </a:r>
            <a:r>
              <a:rPr lang="en-US" altLang="en-US" sz="2200" dirty="0" err="1">
                <a:latin typeface="Arial" panose="020B0604020202020204" pitchFamily="34" charset="0"/>
              </a:rPr>
              <a:t>Khả</a:t>
            </a:r>
            <a:r>
              <a:rPr lang="en-US" altLang="en-US" sz="2200" dirty="0">
                <a:latin typeface="Arial" panose="020B0604020202020204" pitchFamily="34" charset="0"/>
              </a:rPr>
              <a:t> </a:t>
            </a:r>
            <a:r>
              <a:rPr lang="en-US" altLang="en-US" sz="2200" dirty="0" err="1">
                <a:latin typeface="Arial" panose="020B0604020202020204" pitchFamily="34" charset="0"/>
              </a:rPr>
              <a:t>năng</a:t>
            </a:r>
            <a:r>
              <a:rPr lang="en-US" altLang="en-US" sz="2200" dirty="0">
                <a:latin typeface="Arial" panose="020B0604020202020204" pitchFamily="34" charset="0"/>
              </a:rPr>
              <a:t> </a:t>
            </a:r>
            <a:r>
              <a:rPr lang="en-US" altLang="en-US" sz="2200" dirty="0" err="1">
                <a:latin typeface="Arial" panose="020B0604020202020204" pitchFamily="34" charset="0"/>
              </a:rPr>
              <a:t>hiểu</a:t>
            </a:r>
            <a:r>
              <a:rPr lang="en-US" altLang="en-US" sz="2200" dirty="0">
                <a:latin typeface="Arial" panose="020B0604020202020204" pitchFamily="34" charset="0"/>
              </a:rPr>
              <a:t> </a:t>
            </a:r>
            <a:r>
              <a:rPr lang="en-US" altLang="en-US" sz="2200" dirty="0" err="1">
                <a:latin typeface="Arial" panose="020B0604020202020204" pitchFamily="34" charset="0"/>
              </a:rPr>
              <a:t>ngôn</a:t>
            </a:r>
            <a:r>
              <a:rPr lang="en-US" altLang="en-US" sz="2200" dirty="0">
                <a:latin typeface="Arial" panose="020B0604020202020204" pitchFamily="34" charset="0"/>
              </a:rPr>
              <a:t> </a:t>
            </a:r>
            <a:r>
              <a:rPr lang="en-US" altLang="en-US" sz="2200" dirty="0" err="1">
                <a:latin typeface="Arial" panose="020B0604020202020204" pitchFamily="34" charset="0"/>
              </a:rPr>
              <a:t>ngữ</a:t>
            </a:r>
            <a:r>
              <a:rPr lang="en-US" altLang="en-US" sz="2200" dirty="0">
                <a:latin typeface="Arial" panose="020B0604020202020204" pitchFamily="34" charset="0"/>
              </a:rPr>
              <a:t> </a:t>
            </a:r>
            <a:r>
              <a:rPr lang="en-US" altLang="en-US" sz="2200" dirty="0" err="1">
                <a:latin typeface="Arial" panose="020B0604020202020204" pitchFamily="34" charset="0"/>
              </a:rPr>
              <a:t>tự</a:t>
            </a:r>
            <a:r>
              <a:rPr lang="en-US" altLang="en-US" sz="2200" dirty="0">
                <a:latin typeface="Arial" panose="020B0604020202020204" pitchFamily="34" charset="0"/>
              </a:rPr>
              <a:t> </a:t>
            </a:r>
            <a:r>
              <a:rPr lang="en-US" altLang="en-US" sz="2200" dirty="0" err="1">
                <a:latin typeface="Arial" panose="020B0604020202020204" pitchFamily="34" charset="0"/>
              </a:rPr>
              <a:t>nhiên</a:t>
            </a:r>
            <a:r>
              <a:rPr lang="en-US" altLang="en-US" sz="2200" dirty="0">
                <a:latin typeface="Arial" panose="020B0604020202020204" pitchFamily="34" charset="0"/>
              </a:rPr>
              <a:t> </a:t>
            </a:r>
            <a:r>
              <a:rPr lang="en-US" altLang="en-US" sz="2200" dirty="0" err="1">
                <a:latin typeface="Arial" panose="020B0604020202020204" pitchFamily="34" charset="0"/>
              </a:rPr>
              <a:t>còn</a:t>
            </a:r>
            <a:r>
              <a:rPr lang="en-US" altLang="en-US" sz="2200" dirty="0">
                <a:latin typeface="Arial" panose="020B0604020202020204" pitchFamily="34" charset="0"/>
              </a:rPr>
              <a:t> </a:t>
            </a:r>
            <a:r>
              <a:rPr lang="en-US" altLang="en-US" sz="2200" dirty="0" err="1">
                <a:latin typeface="Arial" panose="020B0604020202020204" pitchFamily="34" charset="0"/>
              </a:rPr>
              <a:t>hạn</a:t>
            </a:r>
            <a:r>
              <a:rPr lang="en-US" altLang="en-US" sz="2200" dirty="0">
                <a:latin typeface="Arial" panose="020B0604020202020204" pitchFamily="34" charset="0"/>
              </a:rPr>
              <a:t> </a:t>
            </a:r>
            <a:r>
              <a:rPr lang="en-US" altLang="en-US" sz="2200" dirty="0" err="1">
                <a:latin typeface="Arial" panose="020B0604020202020204" pitchFamily="34" charset="0"/>
              </a:rPr>
              <a:t>chế</a:t>
            </a:r>
            <a:r>
              <a:rPr lang="en-US" altLang="en-US" sz="2200" dirty="0">
                <a:latin typeface="Arial" panose="020B0604020202020204" pitchFamily="34" charset="0"/>
              </a:rPr>
              <a:t> </a:t>
            </a:r>
            <a:r>
              <a:rPr lang="en-US" altLang="en-US" sz="2200" dirty="0" err="1">
                <a:latin typeface="Arial" panose="020B0604020202020204" pitchFamily="34" charset="0"/>
              </a:rPr>
              <a:t>với</a:t>
            </a:r>
            <a:r>
              <a:rPr lang="en-US" altLang="en-US" sz="2200" dirty="0">
                <a:latin typeface="Arial" panose="020B0604020202020204" pitchFamily="34" charset="0"/>
              </a:rPr>
              <a:t> </a:t>
            </a:r>
            <a:r>
              <a:rPr lang="en-US" altLang="en-US" sz="2200" dirty="0" err="1">
                <a:latin typeface="Arial" panose="020B0604020202020204" pitchFamily="34" charset="0"/>
              </a:rPr>
              <a:t>câu</a:t>
            </a:r>
            <a:r>
              <a:rPr lang="en-US" altLang="en-US" sz="2200" dirty="0">
                <a:latin typeface="Arial" panose="020B0604020202020204" pitchFamily="34" charset="0"/>
              </a:rPr>
              <a:t> </a:t>
            </a:r>
            <a:r>
              <a:rPr lang="en-US" altLang="en-US" sz="2200" dirty="0" err="1">
                <a:latin typeface="Arial" panose="020B0604020202020204" pitchFamily="34" charset="0"/>
              </a:rPr>
              <a:t>hỏi</a:t>
            </a:r>
            <a:r>
              <a:rPr lang="en-US" altLang="en-US" sz="2200" dirty="0">
                <a:latin typeface="Arial" panose="020B0604020202020204" pitchFamily="34" charset="0"/>
              </a:rPr>
              <a:t> </a:t>
            </a:r>
            <a:r>
              <a:rPr lang="en-US" altLang="en-US" sz="2200" dirty="0" err="1">
                <a:latin typeface="Arial" panose="020B0604020202020204" pitchFamily="34" charset="0"/>
              </a:rPr>
              <a:t>phức</a:t>
            </a:r>
            <a:r>
              <a:rPr lang="en-US" altLang="en-US" sz="2200" dirty="0">
                <a:latin typeface="Arial" panose="020B0604020202020204" pitchFamily="34" charset="0"/>
              </a:rPr>
              <a:t> </a:t>
            </a:r>
            <a:r>
              <a:rPr lang="en-US" altLang="en-US" sz="2200" dirty="0" err="1">
                <a:latin typeface="Arial" panose="020B0604020202020204" pitchFamily="34" charset="0"/>
              </a:rPr>
              <a:t>tạp</a:t>
            </a:r>
            <a:r>
              <a:rPr lang="en-US" altLang="en-US" sz="2200" dirty="0">
                <a:latin typeface="Arial" panose="020B0604020202020204" pitchFamily="34" charset="0"/>
              </a:rPr>
              <a:t>.</a:t>
            </a:r>
          </a:p>
          <a:p>
            <a:pPr marL="0" indent="0" defTabSz="914400" eaLnBrk="0" fontAlgn="base" hangingPunct="0">
              <a:spcBef>
                <a:spcPct val="0"/>
              </a:spcBef>
              <a:spcAft>
                <a:spcPct val="0"/>
              </a:spcAft>
              <a:buNone/>
            </a:pPr>
            <a:r>
              <a:rPr lang="en-US" altLang="en-US" sz="2200" dirty="0">
                <a:latin typeface="Arial" panose="020B0604020202020204" pitchFamily="34" charset="0"/>
              </a:rPr>
              <a:t>- </a:t>
            </a:r>
            <a:r>
              <a:rPr lang="en-US" altLang="en-US" sz="2200" dirty="0" err="1">
                <a:latin typeface="Arial" panose="020B0604020202020204" pitchFamily="34" charset="0"/>
              </a:rPr>
              <a:t>Chưa</a:t>
            </a:r>
            <a:r>
              <a:rPr lang="en-US" altLang="en-US" sz="2200" dirty="0">
                <a:latin typeface="Arial" panose="020B0604020202020204" pitchFamily="34" charset="0"/>
              </a:rPr>
              <a:t> </a:t>
            </a:r>
            <a:r>
              <a:rPr lang="en-US" altLang="en-US" sz="2200" dirty="0" err="1">
                <a:latin typeface="Arial" panose="020B0604020202020204" pitchFamily="34" charset="0"/>
              </a:rPr>
              <a:t>tích</a:t>
            </a:r>
            <a:r>
              <a:rPr lang="en-US" altLang="en-US" sz="2200" dirty="0">
                <a:latin typeface="Arial" panose="020B0604020202020204" pitchFamily="34" charset="0"/>
              </a:rPr>
              <a:t> </a:t>
            </a:r>
            <a:r>
              <a:rPr lang="en-US" altLang="en-US" sz="2200" dirty="0" err="1">
                <a:latin typeface="Arial" panose="020B0604020202020204" pitchFamily="34" charset="0"/>
              </a:rPr>
              <a:t>hợp</a:t>
            </a:r>
            <a:r>
              <a:rPr lang="en-US" altLang="en-US" sz="2200" dirty="0">
                <a:latin typeface="Arial" panose="020B0604020202020204" pitchFamily="34" charset="0"/>
              </a:rPr>
              <a:t> </a:t>
            </a:r>
            <a:r>
              <a:rPr lang="en-US" altLang="en-US" sz="2200" dirty="0" err="1">
                <a:latin typeface="Arial" panose="020B0604020202020204" pitchFamily="34" charset="0"/>
              </a:rPr>
              <a:t>trực</a:t>
            </a:r>
            <a:r>
              <a:rPr lang="en-US" altLang="en-US" sz="2200" dirty="0">
                <a:latin typeface="Arial" panose="020B0604020202020204" pitchFamily="34" charset="0"/>
              </a:rPr>
              <a:t> </a:t>
            </a:r>
            <a:r>
              <a:rPr lang="en-US" altLang="en-US" sz="2200" dirty="0" err="1">
                <a:latin typeface="Arial" panose="020B0604020202020204" pitchFamily="34" charset="0"/>
              </a:rPr>
              <a:t>tiếp</a:t>
            </a:r>
            <a:r>
              <a:rPr lang="en-US" altLang="en-US" sz="2200" dirty="0">
                <a:latin typeface="Arial" panose="020B0604020202020204" pitchFamily="34" charset="0"/>
              </a:rPr>
              <a:t> </a:t>
            </a:r>
            <a:r>
              <a:rPr lang="en-US" altLang="en-US" sz="2200" dirty="0" err="1">
                <a:latin typeface="Arial" panose="020B0604020202020204" pitchFamily="34" charset="0"/>
              </a:rPr>
              <a:t>với</a:t>
            </a:r>
            <a:r>
              <a:rPr lang="en-US" altLang="en-US" sz="2200" dirty="0">
                <a:latin typeface="Arial" panose="020B0604020202020204" pitchFamily="34" charset="0"/>
              </a:rPr>
              <a:t> </a:t>
            </a:r>
            <a:r>
              <a:rPr lang="en-US" altLang="en-US" sz="2200" dirty="0" err="1">
                <a:latin typeface="Arial" panose="020B0604020202020204" pitchFamily="34" charset="0"/>
              </a:rPr>
              <a:t>hệ</a:t>
            </a:r>
            <a:r>
              <a:rPr lang="en-US" altLang="en-US" sz="2200" dirty="0">
                <a:latin typeface="Arial" panose="020B0604020202020204" pitchFamily="34" charset="0"/>
              </a:rPr>
              <a:t> </a:t>
            </a:r>
            <a:r>
              <a:rPr lang="en-US" altLang="en-US" sz="2200" dirty="0" err="1">
                <a:latin typeface="Arial" panose="020B0604020202020204" pitchFamily="34" charset="0"/>
              </a:rPr>
              <a:t>thống</a:t>
            </a:r>
            <a:r>
              <a:rPr lang="en-US" altLang="en-US" sz="2200" dirty="0">
                <a:latin typeface="Arial" panose="020B0604020202020204" pitchFamily="34" charset="0"/>
              </a:rPr>
              <a:t> </a:t>
            </a:r>
            <a:r>
              <a:rPr lang="en-US" altLang="en-US" sz="2200" dirty="0" err="1">
                <a:latin typeface="Arial" panose="020B0604020202020204" pitchFamily="34" charset="0"/>
              </a:rPr>
              <a:t>quản</a:t>
            </a:r>
            <a:r>
              <a:rPr lang="en-US" altLang="en-US" sz="2200" dirty="0">
                <a:latin typeface="Arial" panose="020B0604020202020204" pitchFamily="34" charset="0"/>
              </a:rPr>
              <a:t> </a:t>
            </a:r>
            <a:r>
              <a:rPr lang="en-US" altLang="en-US" sz="2200" dirty="0" err="1">
                <a:latin typeface="Arial" panose="020B0604020202020204" pitchFamily="34" charset="0"/>
              </a:rPr>
              <a:t>lý</a:t>
            </a:r>
            <a:r>
              <a:rPr lang="en-US" altLang="en-US" sz="2200" dirty="0">
                <a:latin typeface="Arial" panose="020B0604020202020204" pitchFamily="34" charset="0"/>
              </a:rPr>
              <a:t> </a:t>
            </a:r>
            <a:r>
              <a:rPr lang="en-US" altLang="en-US" sz="2200" dirty="0" err="1">
                <a:latin typeface="Arial" panose="020B0604020202020204" pitchFamily="34" charset="0"/>
              </a:rPr>
              <a:t>đào</a:t>
            </a:r>
            <a:r>
              <a:rPr lang="en-US" altLang="en-US" sz="2200" dirty="0">
                <a:latin typeface="Arial" panose="020B0604020202020204" pitchFamily="34" charset="0"/>
              </a:rPr>
              <a:t> </a:t>
            </a:r>
            <a:r>
              <a:rPr lang="en-US" altLang="en-US" sz="2200" dirty="0" err="1">
                <a:latin typeface="Arial" panose="020B0604020202020204" pitchFamily="34" charset="0"/>
              </a:rPr>
              <a:t>tạo</a:t>
            </a:r>
            <a:r>
              <a:rPr lang="en-US" altLang="en-US" sz="2200" dirty="0">
                <a:latin typeface="Arial" panose="020B0604020202020204" pitchFamily="34" charset="0"/>
              </a:rPr>
              <a:t> </a:t>
            </a:r>
            <a:r>
              <a:rPr lang="en-US" altLang="en-US" sz="2200" dirty="0" err="1">
                <a:latin typeface="Arial" panose="020B0604020202020204" pitchFamily="34" charset="0"/>
              </a:rPr>
              <a:t>của</a:t>
            </a:r>
            <a:r>
              <a:rPr lang="en-US" altLang="en-US" sz="2200" dirty="0">
                <a:latin typeface="Arial" panose="020B0604020202020204" pitchFamily="34" charset="0"/>
              </a:rPr>
              <a:t> </a:t>
            </a:r>
            <a:r>
              <a:rPr lang="en-US" altLang="en-US" sz="2200" dirty="0" err="1">
                <a:latin typeface="Arial" panose="020B0604020202020204" pitchFamily="34" charset="0"/>
              </a:rPr>
              <a:t>nhà</a:t>
            </a:r>
            <a:r>
              <a:rPr lang="en-US" altLang="en-US" sz="2200" dirty="0">
                <a:latin typeface="Arial" panose="020B0604020202020204" pitchFamily="34" charset="0"/>
              </a:rPr>
              <a:t> </a:t>
            </a:r>
            <a:r>
              <a:rPr lang="en-US" altLang="en-US" sz="2200" dirty="0" err="1">
                <a:latin typeface="Arial" panose="020B0604020202020204" pitchFamily="34" charset="0"/>
              </a:rPr>
              <a:t>trường</a:t>
            </a:r>
            <a:r>
              <a:rPr lang="en-US" altLang="en-US" sz="2200" dirty="0">
                <a:latin typeface="Arial" panose="020B0604020202020204" pitchFamily="34" charset="0"/>
              </a:rPr>
              <a:t>.</a:t>
            </a:r>
          </a:p>
          <a:p>
            <a:pPr marL="0" indent="0">
              <a:buNone/>
            </a:pPr>
            <a:endParaRPr lang="en-US" b="1" dirty="0"/>
          </a:p>
        </p:txBody>
      </p:sp>
      <p:sp>
        <p:nvSpPr>
          <p:cNvPr id="5" name="Rectangle 2">
            <a:extLst>
              <a:ext uri="{FF2B5EF4-FFF2-40B4-BE49-F238E27FC236}">
                <a16:creationId xmlns:a16="http://schemas.microsoft.com/office/drawing/2014/main" id="{3925972B-2680-0FB2-D4F7-1BD51213D12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57416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834775-CBE1-8027-ECF7-74A0737492AA}"/>
              </a:ext>
            </a:extLst>
          </p:cNvPr>
          <p:cNvSpPr>
            <a:spLocks noGrp="1"/>
          </p:cNvSpPr>
          <p:nvPr>
            <p:ph idx="1"/>
          </p:nvPr>
        </p:nvSpPr>
        <p:spPr/>
        <p:txBody>
          <a:bodyPr>
            <a:normAutofit fontScale="92500"/>
          </a:bodyPr>
          <a:lstStyle/>
          <a:p>
            <a:pPr marL="0" indent="0" algn="ctr">
              <a:lnSpc>
                <a:spcPts val="7365"/>
              </a:lnSpc>
              <a:buNone/>
            </a:pPr>
            <a:r>
              <a:rPr lang="en-US" sz="3600" b="1" spc="249" dirty="0">
                <a:latin typeface="Tahoma Bold"/>
                <a:ea typeface="Tahoma Bold"/>
                <a:cs typeface="Tahoma Bold"/>
                <a:sym typeface="Tahoma Bold"/>
              </a:rPr>
              <a:t>C</a:t>
            </a:r>
            <a:r>
              <a:rPr lang="vi-VN" sz="3600" b="1" spc="249" dirty="0">
                <a:latin typeface="Tahoma Bold"/>
                <a:ea typeface="Tahoma Bold"/>
                <a:cs typeface="Tahoma Bold"/>
                <a:sym typeface="Tahoma Bold"/>
              </a:rPr>
              <a:t>ẢM ƠN QUÝ THẦY CÔ VÀ </a:t>
            </a:r>
          </a:p>
          <a:p>
            <a:pPr marL="0" indent="0" algn="ctr">
              <a:lnSpc>
                <a:spcPts val="7365"/>
              </a:lnSpc>
              <a:buNone/>
            </a:pPr>
            <a:r>
              <a:rPr lang="vi-VN" sz="3600" b="1" spc="253" dirty="0">
                <a:latin typeface="Tahoma Bold"/>
                <a:ea typeface="Tahoma Bold"/>
                <a:cs typeface="Tahoma Bold"/>
                <a:sym typeface="Tahoma Bold"/>
              </a:rPr>
              <a:t>CÁC BẠN ĐÃ LẮNG NGHE</a:t>
            </a:r>
            <a:r>
              <a:rPr lang="en-US" sz="3600" b="1" spc="253" dirty="0">
                <a:latin typeface="Tahoma Bold"/>
                <a:ea typeface="Tahoma Bold"/>
                <a:cs typeface="Tahoma Bold"/>
                <a:sym typeface="Tahoma Bold"/>
              </a:rPr>
              <a:t>!</a:t>
            </a:r>
            <a:endParaRPr lang="vi-VN" sz="3600" b="1" spc="253" dirty="0">
              <a:latin typeface="Tahoma Bold"/>
              <a:ea typeface="Tahoma Bold"/>
              <a:cs typeface="Tahoma Bold"/>
              <a:sym typeface="Tahoma Bold"/>
            </a:endParaRPr>
          </a:p>
          <a:p>
            <a:pPr marL="0" indent="0">
              <a:buNone/>
            </a:pPr>
            <a:endParaRPr lang="en-US" dirty="0"/>
          </a:p>
        </p:txBody>
      </p:sp>
    </p:spTree>
    <p:extLst>
      <p:ext uri="{BB962C8B-B14F-4D97-AF65-F5344CB8AC3E}">
        <p14:creationId xmlns:p14="http://schemas.microsoft.com/office/powerpoint/2010/main" val="375198356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59</TotalTime>
  <Words>843</Words>
  <Application>Microsoft Office PowerPoint</Application>
  <PresentationFormat>On-screen Show (4:3)</PresentationFormat>
  <Paragraphs>65</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Tahoma</vt:lpstr>
      <vt:lpstr>Tahoma Bold</vt:lpstr>
      <vt:lpstr>Trebuchet MS</vt:lpstr>
      <vt:lpstr>Wingdings 3</vt:lpstr>
      <vt:lpstr>Facet</vt:lpstr>
      <vt:lpstr>TÌM HIỂU RASA VÀ XÂY DỰNG CHATBOT TƯ VẤN HỌC VỤ CHO  SINH VIÊN TRƯỜNG ĐẠI HỌC TRÀ  VINH</vt:lpstr>
      <vt:lpstr>PowerPoint Presentation</vt:lpstr>
      <vt:lpstr>I. Lý do chọn đề tài</vt:lpstr>
      <vt:lpstr>II. Lý thuyết </vt:lpstr>
      <vt:lpstr>III. Kết quả đạt được</vt:lpstr>
      <vt:lpstr>III. Kết quả đạt được</vt:lpstr>
      <vt:lpstr>III. Kết quả đạt được</vt:lpstr>
      <vt:lpstr>III. Kết quả đạt được</vt:lpstr>
      <vt:lpstr>IV. HƯỚNG PHÁT TRIỂN</vt:lpstr>
      <vt:lpstr>V. Ưu điểm và nhược điểm</vt:lpstr>
      <vt:lpstr>V. Ưu điểm và nhược điểm</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nguyen thuong</cp:lastModifiedBy>
  <cp:revision>2</cp:revision>
  <dcterms:created xsi:type="dcterms:W3CDTF">2013-01-27T09:14:16Z</dcterms:created>
  <dcterms:modified xsi:type="dcterms:W3CDTF">2026-01-05T06:52:43Z</dcterms:modified>
  <cp:category/>
</cp:coreProperties>
</file>