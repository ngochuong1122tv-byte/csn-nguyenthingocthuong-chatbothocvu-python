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4"/>
  </p:notesMasterIdLst>
  <p:sldIdLst>
    <p:sldId id="256" r:id="rId2"/>
    <p:sldId id="257" r:id="rId3"/>
    <p:sldId id="258" r:id="rId4"/>
    <p:sldId id="259" r:id="rId5"/>
    <p:sldId id="260" r:id="rId6"/>
    <p:sldId id="261" r:id="rId7"/>
    <p:sldId id="273" r:id="rId8"/>
    <p:sldId id="274" r:id="rId9"/>
    <p:sldId id="272" r:id="rId10"/>
    <p:sldId id="269" r:id="rId11"/>
    <p:sldId id="275" r:id="rId12"/>
    <p:sldId id="276"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2022" autoAdjust="0"/>
  </p:normalViewPr>
  <p:slideViewPr>
    <p:cSldViewPr snapToGrid="0" snapToObjects="1">
      <p:cViewPr varScale="1">
        <p:scale>
          <a:sx n="72" d="100"/>
          <a:sy n="72" d="100"/>
        </p:scale>
        <p:origin x="176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44CA8D-E2B3-4895-BC1F-7F926701FCEB}" type="datetimeFigureOut">
              <a:rPr lang="en-US" smtClean="0"/>
              <a:t>1/16/2026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216754-810A-46AC-A6DC-66407EE2FC6C}" type="slidenum">
              <a:rPr lang="en-US" smtClean="0"/>
              <a:t>‹#›</a:t>
            </a:fld>
            <a:endParaRPr lang="en-US"/>
          </a:p>
        </p:txBody>
      </p:sp>
    </p:spTree>
    <p:extLst>
      <p:ext uri="{BB962C8B-B14F-4D97-AF65-F5344CB8AC3E}">
        <p14:creationId xmlns:p14="http://schemas.microsoft.com/office/powerpoint/2010/main" val="7627698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216754-810A-46AC-A6DC-66407EE2FC6C}" type="slidenum">
              <a:rPr lang="en-US" smtClean="0"/>
              <a:t>8</a:t>
            </a:fld>
            <a:endParaRPr lang="en-US"/>
          </a:p>
        </p:txBody>
      </p:sp>
    </p:spTree>
    <p:extLst>
      <p:ext uri="{BB962C8B-B14F-4D97-AF65-F5344CB8AC3E}">
        <p14:creationId xmlns:p14="http://schemas.microsoft.com/office/powerpoint/2010/main" val="31956683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8466" y="-8468"/>
            <a:ext cx="9169804" cy="6874935"/>
            <a:chOff x="-8466" y="-8468"/>
            <a:chExt cx="9169804" cy="6874935"/>
          </a:xfrm>
        </p:grpSpPr>
        <p:cxnSp>
          <p:nvCxnSpPr>
            <p:cNvPr id="17" name="Straight Connector 16"/>
            <p:cNvCxnSpPr/>
            <p:nvPr/>
          </p:nvCxnSpPr>
          <p:spPr>
            <a:xfrm flipV="1">
              <a:off x="5130830" y="4175605"/>
              <a:ext cx="4022475" cy="2682396"/>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7042707"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
          <p:nvSpPr>
            <p:cNvPr id="19" name="Freeform 18"/>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Freeform 19"/>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Freeform 20"/>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Freeform 21"/>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Freeform 22"/>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Freeform 23"/>
            <p:cNvSpPr/>
            <p:nvPr/>
          </p:nvSpPr>
          <p:spPr>
            <a:xfrm>
              <a:off x="8077231"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Freeform 24"/>
            <p:cNvSpPr/>
            <p:nvPr/>
          </p:nvSpPr>
          <p:spPr>
            <a:xfrm>
              <a:off x="8060297"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Freeform 27"/>
            <p:cNvSpPr/>
            <p:nvPr/>
          </p:nvSpPr>
          <p:spPr>
            <a:xfrm>
              <a:off x="-8466" y="-8468"/>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130595" y="2404534"/>
            <a:ext cx="5826719"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130595" y="4050834"/>
            <a:ext cx="5826719"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2372087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731750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9598" y="2700868"/>
            <a:ext cx="6347715"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955376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132080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609600" y="2160589"/>
            <a:ext cx="3088109" cy="3880772"/>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869204" y="2160590"/>
            <a:ext cx="3088110" cy="388077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1/16/2026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83889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3" cy="13208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09599"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599"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866640"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3866640"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1/16/2026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518208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4"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1/16/2026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87264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669273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1498604"/>
            <a:ext cx="2790182"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3571275" y="514925"/>
            <a:ext cx="3386037"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09599" y="2777069"/>
            <a:ext cx="2790182" cy="2584449"/>
          </a:xfrm>
        </p:spPr>
        <p:txBody>
          <a:bodyPr>
            <a:normAutofit/>
          </a:bodyPr>
          <a:lstStyle>
            <a:lvl1pPr marL="0" indent="0">
              <a:buNone/>
              <a:defRPr sz="14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360113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4800600"/>
            <a:ext cx="6347714"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 y="609600"/>
            <a:ext cx="6347714"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09599" y="5367338"/>
            <a:ext cx="6347714"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458411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600" y="4470400"/>
            <a:ext cx="6347714"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9968924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101074" y="3632200"/>
            <a:ext cx="541980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470400"/>
            <a:ext cx="6347715"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7142248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09598" y="1931988"/>
            <a:ext cx="6347715"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41241326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4523070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15848" y="609600"/>
            <a:ext cx="6341465"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324142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1478080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7312" y="609600"/>
            <a:ext cx="978812"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09599" y="609600"/>
            <a:ext cx="5195026" cy="525145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7173959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7" name="Group 16"/>
          <p:cNvGrpSpPr/>
          <p:nvPr/>
        </p:nvGrpSpPr>
        <p:grpSpPr>
          <a:xfrm>
            <a:off x="-8467" y="-8468"/>
            <a:ext cx="9169805" cy="6874935"/>
            <a:chOff x="-8467" y="-8468"/>
            <a:chExt cx="9169805" cy="6874935"/>
          </a:xfrm>
        </p:grpSpPr>
        <p:sp>
          <p:nvSpPr>
            <p:cNvPr id="7" name="Freeform 6"/>
            <p:cNvSpPr/>
            <p:nvPr/>
          </p:nvSpPr>
          <p:spPr>
            <a:xfrm>
              <a:off x="-8467" y="4013200"/>
              <a:ext cx="457200" cy="2853267"/>
            </a:xfrm>
            <a:custGeom>
              <a:avLst/>
              <a:gdLst/>
              <a:ahLst/>
              <a:cxnLst/>
              <a:rect l="l" t="t" r="r" b="b"/>
              <a:pathLst>
                <a:path w="457200" h="2853267">
                  <a:moveTo>
                    <a:pt x="0" y="0"/>
                  </a:moveTo>
                  <a:lnTo>
                    <a:pt x="457200" y="2853267"/>
                  </a:lnTo>
                  <a:lnTo>
                    <a:pt x="0" y="2844800"/>
                  </a:lnTo>
                  <a:cubicBezTo>
                    <a:pt x="2822" y="1905000"/>
                    <a:pt x="5645" y="965200"/>
                    <a:pt x="0" y="0"/>
                  </a:cubicBezTo>
                  <a:close/>
                </a:path>
              </a:pathLst>
            </a:cu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cxnSp>
          <p:nvCxnSpPr>
            <p:cNvPr id="8" name="Straight Connector 7"/>
            <p:cNvCxnSpPr/>
            <p:nvPr/>
          </p:nvCxnSpPr>
          <p:spPr>
            <a:xfrm flipV="1">
              <a:off x="5130830" y="4175605"/>
              <a:ext cx="4022475" cy="2682396"/>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a:off x="7042707"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
          <p:nvSpPr>
            <p:cNvPr id="10" name="Freeform 9"/>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Freeform 10"/>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2" name="Freeform 11"/>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Freeform 12"/>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Freeform 13"/>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Freeform 14"/>
            <p:cNvSpPr/>
            <p:nvPr/>
          </p:nvSpPr>
          <p:spPr>
            <a:xfrm>
              <a:off x="8077231"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Freeform 15"/>
            <p:cNvSpPr/>
            <p:nvPr/>
          </p:nvSpPr>
          <p:spPr>
            <a:xfrm>
              <a:off x="8060297"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09599" y="609600"/>
            <a:ext cx="6347713"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09599" y="2160590"/>
            <a:ext cx="6347714"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405258" y="6041363"/>
            <a:ext cx="684132"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BCAD085-E8A6-8845-BD4E-CB4CCA059FC4}" type="datetimeFigureOut">
              <a:rPr lang="en-US" smtClean="0"/>
              <a:t>1/16/2026</a:t>
            </a:fld>
            <a:endParaRPr lang="en-US"/>
          </a:p>
        </p:txBody>
      </p:sp>
      <p:sp>
        <p:nvSpPr>
          <p:cNvPr id="5" name="Footer Placeholder 4"/>
          <p:cNvSpPr>
            <a:spLocks noGrp="1"/>
          </p:cNvSpPr>
          <p:nvPr>
            <p:ph type="ftr" sz="quarter" idx="3"/>
          </p:nvPr>
        </p:nvSpPr>
        <p:spPr>
          <a:xfrm>
            <a:off x="609599" y="6041363"/>
            <a:ext cx="4622973"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44676" y="6041363"/>
            <a:ext cx="512638" cy="365125"/>
          </a:xfrm>
          <a:prstGeom prst="rect">
            <a:avLst/>
          </a:prstGeom>
        </p:spPr>
        <p:txBody>
          <a:bodyPr vert="horz" lIns="91440" tIns="45720" rIns="91440" bIns="45720" rtlCol="0" anchor="ctr"/>
          <a:lstStyle>
            <a:lvl1pPr algn="r">
              <a:defRPr sz="900">
                <a:solidFill>
                  <a:schemeClr val="accent1"/>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91264853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8491" y="2414584"/>
            <a:ext cx="8839200" cy="1470025"/>
          </a:xfrm>
        </p:spPr>
        <p:txBody>
          <a:bodyPr>
            <a:noAutofit/>
          </a:bodyPr>
          <a:lstStyle/>
          <a:p>
            <a:pPr algn="ctr"/>
            <a:r>
              <a:rPr lang="en-US" sz="3400" b="1" dirty="0">
                <a:solidFill>
                  <a:schemeClr val="tx1"/>
                </a:solidFill>
                <a:latin typeface="Arial" panose="020B0604020202020204" pitchFamily="34" charset="0"/>
                <a:cs typeface="Arial" panose="020B0604020202020204" pitchFamily="34" charset="0"/>
              </a:rPr>
              <a:t>TÌM HIỂU RASA VÀ XÂY DỰNG CHATBOT TƯ VẤN HỌC VỤ CHO </a:t>
            </a:r>
            <a:br>
              <a:rPr lang="en-US" sz="3400" b="1" dirty="0">
                <a:solidFill>
                  <a:schemeClr val="tx1"/>
                </a:solidFill>
                <a:latin typeface="Arial" panose="020B0604020202020204" pitchFamily="34" charset="0"/>
                <a:cs typeface="Arial" panose="020B0604020202020204" pitchFamily="34" charset="0"/>
              </a:rPr>
            </a:br>
            <a:r>
              <a:rPr lang="en-US" sz="3400" b="1" dirty="0">
                <a:solidFill>
                  <a:schemeClr val="tx1"/>
                </a:solidFill>
                <a:latin typeface="Arial" panose="020B0604020202020204" pitchFamily="34" charset="0"/>
                <a:cs typeface="Arial" panose="020B0604020202020204" pitchFamily="34" charset="0"/>
              </a:rPr>
              <a:t>SINH VIÊN TRƯỜNG ĐẠI HỌC TRÀ  VINH</a:t>
            </a:r>
            <a:endParaRPr sz="3400" b="1" dirty="0">
              <a:solidFill>
                <a:schemeClr val="tx1"/>
              </a:solidFill>
              <a:latin typeface="Arial" panose="020B0604020202020204" pitchFamily="34" charset="0"/>
              <a:cs typeface="Arial" panose="020B0604020202020204" pitchFamily="34" charset="0"/>
            </a:endParaRPr>
          </a:p>
        </p:txBody>
      </p:sp>
      <p:sp>
        <p:nvSpPr>
          <p:cNvPr id="3" name="Subtitle 2"/>
          <p:cNvSpPr>
            <a:spLocks noGrp="1"/>
          </p:cNvSpPr>
          <p:nvPr>
            <p:ph type="subTitle" idx="1"/>
          </p:nvPr>
        </p:nvSpPr>
        <p:spPr>
          <a:xfrm>
            <a:off x="3755923" y="5027682"/>
            <a:ext cx="5171768" cy="1170369"/>
          </a:xfrm>
        </p:spPr>
        <p:txBody>
          <a:bodyPr>
            <a:normAutofit/>
          </a:bodyPr>
          <a:lstStyle/>
          <a:p>
            <a:r>
              <a:rPr sz="1800" dirty="0">
                <a:solidFill>
                  <a:schemeClr val="tx1"/>
                </a:solidFill>
                <a:latin typeface="Arial" panose="020B0604020202020204" pitchFamily="34" charset="0"/>
                <a:cs typeface="Arial" panose="020B0604020202020204" pitchFamily="34" charset="0"/>
              </a:rPr>
              <a:t>Sinh </a:t>
            </a:r>
            <a:r>
              <a:rPr sz="1800" dirty="0" err="1">
                <a:solidFill>
                  <a:schemeClr val="tx1"/>
                </a:solidFill>
                <a:latin typeface="Arial" panose="020B0604020202020204" pitchFamily="34" charset="0"/>
                <a:cs typeface="Arial" panose="020B0604020202020204" pitchFamily="34" charset="0"/>
              </a:rPr>
              <a:t>viên</a:t>
            </a:r>
            <a:r>
              <a:rPr lang="en-US" sz="1800" dirty="0">
                <a:solidFill>
                  <a:schemeClr val="tx1"/>
                </a:solidFill>
                <a:latin typeface="Arial" panose="020B0604020202020204" pitchFamily="34" charset="0"/>
                <a:cs typeface="Arial" panose="020B0604020202020204" pitchFamily="34" charset="0"/>
              </a:rPr>
              <a:t> </a:t>
            </a:r>
            <a:r>
              <a:rPr lang="en-US" sz="1800" dirty="0" err="1">
                <a:solidFill>
                  <a:schemeClr val="tx1"/>
                </a:solidFill>
                <a:latin typeface="Arial" panose="020B0604020202020204" pitchFamily="34" charset="0"/>
                <a:cs typeface="Arial" panose="020B0604020202020204" pitchFamily="34" charset="0"/>
              </a:rPr>
              <a:t>thực</a:t>
            </a:r>
            <a:r>
              <a:rPr lang="en-US" sz="1800" dirty="0">
                <a:solidFill>
                  <a:schemeClr val="tx1"/>
                </a:solidFill>
                <a:latin typeface="Arial" panose="020B0604020202020204" pitchFamily="34" charset="0"/>
                <a:cs typeface="Arial" panose="020B0604020202020204" pitchFamily="34" charset="0"/>
              </a:rPr>
              <a:t> </a:t>
            </a:r>
            <a:r>
              <a:rPr lang="en-US" sz="1800" dirty="0" err="1">
                <a:solidFill>
                  <a:schemeClr val="tx1"/>
                </a:solidFill>
                <a:latin typeface="Arial" panose="020B0604020202020204" pitchFamily="34" charset="0"/>
                <a:cs typeface="Arial" panose="020B0604020202020204" pitchFamily="34" charset="0"/>
              </a:rPr>
              <a:t>hiện</a:t>
            </a:r>
            <a:r>
              <a:rPr sz="1800" dirty="0">
                <a:solidFill>
                  <a:schemeClr val="tx1"/>
                </a:solidFill>
                <a:latin typeface="Arial" panose="020B0604020202020204" pitchFamily="34" charset="0"/>
                <a:cs typeface="Arial" panose="020B0604020202020204" pitchFamily="34" charset="0"/>
              </a:rPr>
              <a:t>: </a:t>
            </a:r>
            <a:endParaRPr lang="en-US" sz="1800" dirty="0">
              <a:solidFill>
                <a:schemeClr val="tx1"/>
              </a:solidFill>
              <a:latin typeface="Arial" panose="020B0604020202020204" pitchFamily="34" charset="0"/>
              <a:cs typeface="Arial" panose="020B0604020202020204" pitchFamily="34" charset="0"/>
            </a:endParaRPr>
          </a:p>
          <a:p>
            <a:r>
              <a:rPr sz="1800" dirty="0">
                <a:solidFill>
                  <a:schemeClr val="tx1"/>
                </a:solidFill>
                <a:latin typeface="Arial" panose="020B0604020202020204" pitchFamily="34" charset="0"/>
                <a:cs typeface="Arial" panose="020B0604020202020204" pitchFamily="34" charset="0"/>
              </a:rPr>
              <a:t>Nguyễn Thị Ngọc Thương</a:t>
            </a:r>
          </a:p>
          <a:p>
            <a:r>
              <a:rPr lang="en-US" sz="1800" dirty="0">
                <a:solidFill>
                  <a:schemeClr val="tx1"/>
                </a:solidFill>
                <a:latin typeface="Arial" panose="020B0604020202020204" pitchFamily="34" charset="0"/>
                <a:cs typeface="Arial" panose="020B0604020202020204" pitchFamily="34" charset="0"/>
              </a:rPr>
              <a:t>DA23TTB - 110123053</a:t>
            </a:r>
            <a:endParaRPr sz="1800" dirty="0">
              <a:solidFill>
                <a:schemeClr val="tx1"/>
              </a:solidFill>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9677C21-D0E3-C948-DC53-C7EEC2E5BE3E}"/>
              </a:ext>
            </a:extLst>
          </p:cNvPr>
          <p:cNvGrpSpPr/>
          <p:nvPr/>
        </p:nvGrpSpPr>
        <p:grpSpPr>
          <a:xfrm>
            <a:off x="296323" y="0"/>
            <a:ext cx="1521000" cy="1521000"/>
            <a:chOff x="0" y="0"/>
            <a:chExt cx="2028000" cy="2028000"/>
          </a:xfrm>
        </p:grpSpPr>
        <p:sp>
          <p:nvSpPr>
            <p:cNvPr id="5" name="Freeform 4">
              <a:extLst>
                <a:ext uri="{FF2B5EF4-FFF2-40B4-BE49-F238E27FC236}">
                  <a16:creationId xmlns:a16="http://schemas.microsoft.com/office/drawing/2014/main" id="{66104216-925A-2D5C-B2BA-4070C21A114A}"/>
                </a:ext>
              </a:extLst>
            </p:cNvPr>
            <p:cNvSpPr/>
            <p:nvPr/>
          </p:nvSpPr>
          <p:spPr>
            <a:xfrm>
              <a:off x="0" y="0"/>
              <a:ext cx="2028063" cy="2028063"/>
            </a:xfrm>
            <a:custGeom>
              <a:avLst/>
              <a:gdLst/>
              <a:ahLst/>
              <a:cxnLst/>
              <a:rect l="l" t="t" r="r" b="b"/>
              <a:pathLst>
                <a:path w="2028063" h="2028063">
                  <a:moveTo>
                    <a:pt x="0" y="0"/>
                  </a:moveTo>
                  <a:lnTo>
                    <a:pt x="2028063" y="0"/>
                  </a:lnTo>
                  <a:lnTo>
                    <a:pt x="2028063" y="2028063"/>
                  </a:lnTo>
                  <a:lnTo>
                    <a:pt x="0" y="2028063"/>
                  </a:lnTo>
                  <a:lnTo>
                    <a:pt x="0" y="0"/>
                  </a:lnTo>
                  <a:close/>
                </a:path>
              </a:pathLst>
            </a:custGeom>
            <a:blipFill>
              <a:blip r:embed="rId2"/>
              <a:stretch>
                <a:fillRect r="3" b="3"/>
              </a:stretch>
            </a:blipFill>
          </p:spPr>
          <p:txBody>
            <a:bodyPr/>
            <a:lstStyle/>
            <a:p>
              <a:endParaRPr lang="vi-VN" noProof="0" dirty="0"/>
            </a:p>
          </p:txBody>
        </p:sp>
      </p:grpSp>
      <p:sp>
        <p:nvSpPr>
          <p:cNvPr id="6" name="TextBox 5">
            <a:extLst>
              <a:ext uri="{FF2B5EF4-FFF2-40B4-BE49-F238E27FC236}">
                <a16:creationId xmlns:a16="http://schemas.microsoft.com/office/drawing/2014/main" id="{04B5B5FE-E0F1-CE17-4D1D-F6674EDC5582}"/>
              </a:ext>
            </a:extLst>
          </p:cNvPr>
          <p:cNvSpPr txBox="1"/>
          <p:nvPr/>
        </p:nvSpPr>
        <p:spPr>
          <a:xfrm>
            <a:off x="1711472" y="327253"/>
            <a:ext cx="6659432" cy="359073"/>
          </a:xfrm>
          <a:prstGeom prst="rect">
            <a:avLst/>
          </a:prstGeom>
        </p:spPr>
        <p:txBody>
          <a:bodyPr lIns="0" tIns="0" rIns="0" bIns="0" rtlCol="0" anchor="t">
            <a:spAutoFit/>
          </a:bodyPr>
          <a:lstStyle/>
          <a:p>
            <a:pPr algn="ctr">
              <a:lnSpc>
                <a:spcPts val="2799"/>
              </a:lnSpc>
            </a:pPr>
            <a:r>
              <a:rPr lang="vi-VN" sz="3200" b="1" noProof="0" dirty="0">
                <a:solidFill>
                  <a:srgbClr val="053484"/>
                </a:solidFill>
                <a:latin typeface="Tahoma Bold"/>
                <a:ea typeface="Tahoma Bold"/>
                <a:cs typeface="Tahoma Bold"/>
                <a:sym typeface="Tahoma Bold"/>
              </a:rPr>
              <a:t>Trường Kỹ thuật và Công nghệ</a:t>
            </a:r>
          </a:p>
        </p:txBody>
      </p:sp>
      <p:sp>
        <p:nvSpPr>
          <p:cNvPr id="7" name="TextBox 6">
            <a:extLst>
              <a:ext uri="{FF2B5EF4-FFF2-40B4-BE49-F238E27FC236}">
                <a16:creationId xmlns:a16="http://schemas.microsoft.com/office/drawing/2014/main" id="{3B2E0652-0C9C-95C7-DC9C-AEF6342DBAC4}"/>
              </a:ext>
            </a:extLst>
          </p:cNvPr>
          <p:cNvSpPr txBox="1"/>
          <p:nvPr/>
        </p:nvSpPr>
        <p:spPr>
          <a:xfrm>
            <a:off x="1925293" y="796216"/>
            <a:ext cx="5786990" cy="359073"/>
          </a:xfrm>
          <a:prstGeom prst="rect">
            <a:avLst/>
          </a:prstGeom>
        </p:spPr>
        <p:txBody>
          <a:bodyPr lIns="0" tIns="0" rIns="0" bIns="0" rtlCol="0" anchor="t">
            <a:spAutoFit/>
          </a:bodyPr>
          <a:lstStyle/>
          <a:p>
            <a:pPr algn="ctr">
              <a:lnSpc>
                <a:spcPts val="2799"/>
              </a:lnSpc>
            </a:pPr>
            <a:r>
              <a:rPr lang="vi-VN" sz="2400" b="1" noProof="0" dirty="0">
                <a:solidFill>
                  <a:srgbClr val="053484"/>
                </a:solidFill>
                <a:latin typeface="Tahoma Bold"/>
                <a:ea typeface="Tahoma Bold"/>
                <a:cs typeface="Tahoma Bold"/>
                <a:sym typeface="Tahoma Bold"/>
              </a:rPr>
              <a:t>Khoa Công nghệ thông tin</a:t>
            </a:r>
          </a:p>
        </p:txBody>
      </p:sp>
      <p:sp>
        <p:nvSpPr>
          <p:cNvPr id="13" name="TextBox 12">
            <a:extLst>
              <a:ext uri="{FF2B5EF4-FFF2-40B4-BE49-F238E27FC236}">
                <a16:creationId xmlns:a16="http://schemas.microsoft.com/office/drawing/2014/main" id="{54D67C03-B1D2-3FB6-5934-FE23E7FDC9A2}"/>
              </a:ext>
            </a:extLst>
          </p:cNvPr>
          <p:cNvSpPr txBox="1"/>
          <p:nvPr/>
        </p:nvSpPr>
        <p:spPr>
          <a:xfrm>
            <a:off x="-44244" y="5027682"/>
            <a:ext cx="4616244" cy="745717"/>
          </a:xfrm>
          <a:prstGeom prst="rect">
            <a:avLst/>
          </a:prstGeom>
          <a:noFill/>
        </p:spPr>
        <p:txBody>
          <a:bodyPr wrap="square">
            <a:spAutoFit/>
          </a:bodyPr>
          <a:lstStyle/>
          <a:p>
            <a:pPr algn="ctr">
              <a:lnSpc>
                <a:spcPts val="2722"/>
              </a:lnSpc>
            </a:pPr>
            <a:r>
              <a:rPr lang="vi-VN" sz="1800" noProof="0" dirty="0">
                <a:solidFill>
                  <a:srgbClr val="000000"/>
                </a:solidFill>
                <a:latin typeface="Tahoma"/>
                <a:ea typeface="Tahoma"/>
                <a:cs typeface="Tahoma"/>
                <a:sym typeface="Tahoma"/>
              </a:rPr>
              <a:t>Giáo viên hướng dẫn </a:t>
            </a:r>
          </a:p>
          <a:p>
            <a:pPr algn="ctr">
              <a:lnSpc>
                <a:spcPts val="2722"/>
              </a:lnSpc>
            </a:pPr>
            <a:r>
              <a:rPr lang="vi-VN" sz="1800" noProof="0" dirty="0" err="1">
                <a:solidFill>
                  <a:srgbClr val="000000"/>
                </a:solidFill>
                <a:latin typeface="Tahoma"/>
                <a:ea typeface="Tahoma"/>
                <a:cs typeface="Tahoma"/>
                <a:sym typeface="Tahoma"/>
              </a:rPr>
              <a:t>ThS</a:t>
            </a:r>
            <a:r>
              <a:rPr lang="vi-VN" sz="1800" noProof="0" dirty="0">
                <a:solidFill>
                  <a:srgbClr val="000000"/>
                </a:solidFill>
                <a:latin typeface="Tahoma"/>
                <a:ea typeface="Tahoma"/>
                <a:cs typeface="Tahoma"/>
                <a:sym typeface="Tahoma"/>
              </a:rPr>
              <a:t>.</a:t>
            </a:r>
            <a:r>
              <a:rPr lang="en-US" dirty="0">
                <a:solidFill>
                  <a:srgbClr val="000000"/>
                </a:solidFill>
                <a:latin typeface="Tahoma"/>
                <a:ea typeface="Tahoma"/>
                <a:cs typeface="Tahoma"/>
                <a:sym typeface="Tahoma"/>
              </a:rPr>
              <a:t>Phạm Thị Trúc Mai</a:t>
            </a:r>
            <a:endParaRPr lang="vi-VN" sz="1800" noProof="0" dirty="0">
              <a:solidFill>
                <a:srgbClr val="000000"/>
              </a:solidFill>
              <a:latin typeface="Tahoma"/>
              <a:ea typeface="Tahoma"/>
              <a:cs typeface="Tahoma"/>
              <a:sym typeface="Tahom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5">
            <a:extLst>
              <a:ext uri="{FF2B5EF4-FFF2-40B4-BE49-F238E27FC236}">
                <a16:creationId xmlns:a16="http://schemas.microsoft.com/office/drawing/2014/main" id="{944BE149-5148-AF69-570B-4086FB7D254C}"/>
              </a:ext>
            </a:extLst>
          </p:cNvPr>
          <p:cNvSpPr txBox="1"/>
          <p:nvPr/>
        </p:nvSpPr>
        <p:spPr>
          <a:xfrm>
            <a:off x="1230453" y="2473938"/>
            <a:ext cx="5936113" cy="487309"/>
          </a:xfrm>
          <a:prstGeom prst="rect">
            <a:avLst/>
          </a:prstGeom>
        </p:spPr>
        <p:txBody>
          <a:bodyPr lIns="0" tIns="0" rIns="0" bIns="0" rtlCol="0" anchor="t">
            <a:spAutoFit/>
          </a:bodyPr>
          <a:lstStyle/>
          <a:p>
            <a:pPr algn="l">
              <a:lnSpc>
                <a:spcPts val="3831"/>
              </a:lnSpc>
            </a:pPr>
            <a:r>
              <a:rPr lang="vi-VN" sz="3200" b="1" noProof="0" dirty="0">
                <a:solidFill>
                  <a:srgbClr val="000000"/>
                </a:solidFill>
                <a:latin typeface="Tahoma Bold"/>
                <a:ea typeface="Tahoma Bold"/>
                <a:cs typeface="Tahoma Bold"/>
                <a:sym typeface="Tahoma Bold"/>
              </a:rPr>
              <a:t>II. Lý thuyết </a:t>
            </a:r>
          </a:p>
        </p:txBody>
      </p:sp>
      <p:sp>
        <p:nvSpPr>
          <p:cNvPr id="19" name="TextBox 6">
            <a:extLst>
              <a:ext uri="{FF2B5EF4-FFF2-40B4-BE49-F238E27FC236}">
                <a16:creationId xmlns:a16="http://schemas.microsoft.com/office/drawing/2014/main" id="{3902F6FA-7F61-754F-17B3-483C39344F0A}"/>
              </a:ext>
            </a:extLst>
          </p:cNvPr>
          <p:cNvSpPr txBox="1"/>
          <p:nvPr/>
        </p:nvSpPr>
        <p:spPr>
          <a:xfrm>
            <a:off x="1230453" y="3374995"/>
            <a:ext cx="5936113" cy="487309"/>
          </a:xfrm>
          <a:prstGeom prst="rect">
            <a:avLst/>
          </a:prstGeom>
        </p:spPr>
        <p:txBody>
          <a:bodyPr lIns="0" tIns="0" rIns="0" bIns="0" rtlCol="0" anchor="t">
            <a:spAutoFit/>
          </a:bodyPr>
          <a:lstStyle/>
          <a:p>
            <a:pPr algn="l">
              <a:lnSpc>
                <a:spcPts val="3831"/>
              </a:lnSpc>
            </a:pPr>
            <a:r>
              <a:rPr lang="vi-VN" sz="3200" b="1" noProof="0" dirty="0">
                <a:solidFill>
                  <a:srgbClr val="000000"/>
                </a:solidFill>
                <a:latin typeface="Tahoma Bold"/>
                <a:ea typeface="Tahoma Bold"/>
                <a:cs typeface="Tahoma Bold"/>
                <a:sym typeface="Tahoma Bold"/>
              </a:rPr>
              <a:t>III. Kết quả đạt được</a:t>
            </a:r>
          </a:p>
        </p:txBody>
      </p:sp>
      <p:sp>
        <p:nvSpPr>
          <p:cNvPr id="20" name="TextBox 7">
            <a:extLst>
              <a:ext uri="{FF2B5EF4-FFF2-40B4-BE49-F238E27FC236}">
                <a16:creationId xmlns:a16="http://schemas.microsoft.com/office/drawing/2014/main" id="{4F30D337-5959-A902-7301-10838515512F}"/>
              </a:ext>
            </a:extLst>
          </p:cNvPr>
          <p:cNvSpPr txBox="1"/>
          <p:nvPr/>
        </p:nvSpPr>
        <p:spPr>
          <a:xfrm>
            <a:off x="1230453" y="1647951"/>
            <a:ext cx="4603490" cy="531628"/>
          </a:xfrm>
          <a:prstGeom prst="rect">
            <a:avLst/>
          </a:prstGeom>
        </p:spPr>
        <p:txBody>
          <a:bodyPr lIns="0" tIns="0" rIns="0" bIns="0" rtlCol="0" anchor="t">
            <a:spAutoFit/>
          </a:bodyPr>
          <a:lstStyle/>
          <a:p>
            <a:pPr algn="l">
              <a:lnSpc>
                <a:spcPts val="4251"/>
              </a:lnSpc>
            </a:pPr>
            <a:r>
              <a:rPr lang="vi-VN" sz="3200" b="1" noProof="0" dirty="0">
                <a:solidFill>
                  <a:srgbClr val="000000"/>
                </a:solidFill>
                <a:latin typeface="Tahoma Bold"/>
                <a:ea typeface="Tahoma Bold"/>
                <a:cs typeface="Tahoma Bold"/>
                <a:sym typeface="Tahoma Bold"/>
              </a:rPr>
              <a:t>I. Lý do chọn đề tài</a:t>
            </a:r>
          </a:p>
        </p:txBody>
      </p:sp>
      <p:sp>
        <p:nvSpPr>
          <p:cNvPr id="21" name="TextBox 8">
            <a:extLst>
              <a:ext uri="{FF2B5EF4-FFF2-40B4-BE49-F238E27FC236}">
                <a16:creationId xmlns:a16="http://schemas.microsoft.com/office/drawing/2014/main" id="{BD1A3191-6CE9-9AA3-A2AF-13A56E6F5217}"/>
              </a:ext>
            </a:extLst>
          </p:cNvPr>
          <p:cNvSpPr txBox="1"/>
          <p:nvPr/>
        </p:nvSpPr>
        <p:spPr>
          <a:xfrm>
            <a:off x="813849" y="588960"/>
            <a:ext cx="5436699" cy="689562"/>
          </a:xfrm>
          <a:prstGeom prst="rect">
            <a:avLst/>
          </a:prstGeom>
        </p:spPr>
        <p:txBody>
          <a:bodyPr lIns="0" tIns="0" rIns="0" bIns="0" rtlCol="0" anchor="t">
            <a:spAutoFit/>
          </a:bodyPr>
          <a:lstStyle/>
          <a:p>
            <a:pPr algn="ctr">
              <a:lnSpc>
                <a:spcPts val="5498"/>
              </a:lnSpc>
            </a:pPr>
            <a:r>
              <a:rPr lang="vi-VN" sz="4000" b="1" noProof="0" dirty="0">
                <a:solidFill>
                  <a:srgbClr val="000000"/>
                </a:solidFill>
                <a:latin typeface="Tahoma Bold"/>
                <a:ea typeface="Tahoma Bold"/>
                <a:cs typeface="Tahoma Bold"/>
                <a:sym typeface="Tahoma Bold"/>
              </a:rPr>
              <a:t>NỘI DUNG BÁO CÁO</a:t>
            </a:r>
          </a:p>
        </p:txBody>
      </p:sp>
      <p:sp>
        <p:nvSpPr>
          <p:cNvPr id="22" name="TextBox 9">
            <a:extLst>
              <a:ext uri="{FF2B5EF4-FFF2-40B4-BE49-F238E27FC236}">
                <a16:creationId xmlns:a16="http://schemas.microsoft.com/office/drawing/2014/main" id="{CA6063D8-C610-3CF2-4917-7F2386E5592A}"/>
              </a:ext>
            </a:extLst>
          </p:cNvPr>
          <p:cNvSpPr txBox="1"/>
          <p:nvPr/>
        </p:nvSpPr>
        <p:spPr>
          <a:xfrm>
            <a:off x="1230453" y="4276052"/>
            <a:ext cx="5936113" cy="487309"/>
          </a:xfrm>
          <a:prstGeom prst="rect">
            <a:avLst/>
          </a:prstGeom>
        </p:spPr>
        <p:txBody>
          <a:bodyPr lIns="0" tIns="0" rIns="0" bIns="0" rtlCol="0" anchor="t">
            <a:spAutoFit/>
          </a:bodyPr>
          <a:lstStyle/>
          <a:p>
            <a:pPr algn="l">
              <a:lnSpc>
                <a:spcPts val="3831"/>
              </a:lnSpc>
            </a:pPr>
            <a:r>
              <a:rPr lang="vi-VN" sz="3200" b="1" noProof="0" dirty="0">
                <a:solidFill>
                  <a:srgbClr val="000000"/>
                </a:solidFill>
                <a:latin typeface="Tahoma Bold"/>
                <a:ea typeface="Tahoma Bold"/>
                <a:cs typeface="Tahoma Bold"/>
                <a:sym typeface="Tahoma Bold"/>
              </a:rPr>
              <a:t>IV. Hướng phát triển</a:t>
            </a:r>
          </a:p>
        </p:txBody>
      </p:sp>
      <p:sp>
        <p:nvSpPr>
          <p:cNvPr id="27" name="TextBox 26">
            <a:extLst>
              <a:ext uri="{FF2B5EF4-FFF2-40B4-BE49-F238E27FC236}">
                <a16:creationId xmlns:a16="http://schemas.microsoft.com/office/drawing/2014/main" id="{79E5BBFC-79CF-4D8A-B0FE-CC88574E0C7E}"/>
              </a:ext>
            </a:extLst>
          </p:cNvPr>
          <p:cNvSpPr txBox="1"/>
          <p:nvPr/>
        </p:nvSpPr>
        <p:spPr>
          <a:xfrm>
            <a:off x="1229742" y="5177109"/>
            <a:ext cx="5797721" cy="579646"/>
          </a:xfrm>
          <a:prstGeom prst="rect">
            <a:avLst/>
          </a:prstGeom>
          <a:noFill/>
        </p:spPr>
        <p:txBody>
          <a:bodyPr wrap="square">
            <a:spAutoFit/>
          </a:bodyPr>
          <a:lstStyle/>
          <a:p>
            <a:pPr algn="l">
              <a:lnSpc>
                <a:spcPts val="3831"/>
              </a:lnSpc>
            </a:pPr>
            <a:r>
              <a:rPr lang="vi-VN" sz="3200" b="1" noProof="0" dirty="0">
                <a:solidFill>
                  <a:srgbClr val="000000"/>
                </a:solidFill>
                <a:latin typeface="Tahoma Bold"/>
                <a:ea typeface="Tahoma Bold"/>
                <a:cs typeface="Tahoma Bold"/>
                <a:sym typeface="Tahoma Bold"/>
              </a:rPr>
              <a:t>V. </a:t>
            </a:r>
            <a:r>
              <a:rPr lang="en-US" sz="3200" b="1" noProof="0" dirty="0" err="1">
                <a:solidFill>
                  <a:srgbClr val="000000"/>
                </a:solidFill>
                <a:latin typeface="Tahoma Bold"/>
                <a:ea typeface="Tahoma Bold"/>
                <a:cs typeface="Tahoma Bold"/>
                <a:sym typeface="Tahoma Bold"/>
              </a:rPr>
              <a:t>Ưu</a:t>
            </a:r>
            <a:r>
              <a:rPr lang="en-US" sz="3200" b="1" noProof="0" dirty="0">
                <a:solidFill>
                  <a:srgbClr val="000000"/>
                </a:solidFill>
                <a:latin typeface="Tahoma Bold"/>
                <a:ea typeface="Tahoma Bold"/>
                <a:cs typeface="Tahoma Bold"/>
                <a:sym typeface="Tahoma Bold"/>
              </a:rPr>
              <a:t> </a:t>
            </a:r>
            <a:r>
              <a:rPr lang="en-US" sz="3200" b="1" noProof="0" dirty="0" err="1">
                <a:solidFill>
                  <a:srgbClr val="000000"/>
                </a:solidFill>
                <a:latin typeface="Tahoma Bold"/>
                <a:ea typeface="Tahoma Bold"/>
                <a:cs typeface="Tahoma Bold"/>
                <a:sym typeface="Tahoma Bold"/>
              </a:rPr>
              <a:t>điểm</a:t>
            </a:r>
            <a:r>
              <a:rPr lang="en-US" sz="3200" b="1" noProof="0" dirty="0">
                <a:solidFill>
                  <a:srgbClr val="000000"/>
                </a:solidFill>
                <a:latin typeface="Tahoma Bold"/>
                <a:ea typeface="Tahoma Bold"/>
                <a:cs typeface="Tahoma Bold"/>
                <a:sym typeface="Tahoma Bold"/>
              </a:rPr>
              <a:t> </a:t>
            </a:r>
            <a:r>
              <a:rPr lang="en-US" sz="3200" b="1" noProof="0" dirty="0" err="1">
                <a:solidFill>
                  <a:srgbClr val="000000"/>
                </a:solidFill>
                <a:latin typeface="Tahoma Bold"/>
                <a:ea typeface="Tahoma Bold"/>
                <a:cs typeface="Tahoma Bold"/>
                <a:sym typeface="Tahoma Bold"/>
              </a:rPr>
              <a:t>và</a:t>
            </a:r>
            <a:r>
              <a:rPr lang="en-US" sz="3200" b="1" noProof="0" dirty="0">
                <a:solidFill>
                  <a:srgbClr val="000000"/>
                </a:solidFill>
                <a:latin typeface="Tahoma Bold"/>
                <a:ea typeface="Tahoma Bold"/>
                <a:cs typeface="Tahoma Bold"/>
                <a:sym typeface="Tahoma Bold"/>
              </a:rPr>
              <a:t> </a:t>
            </a:r>
            <a:r>
              <a:rPr lang="en-US" sz="3200" b="1" noProof="0" dirty="0" err="1">
                <a:solidFill>
                  <a:srgbClr val="000000"/>
                </a:solidFill>
                <a:latin typeface="Tahoma Bold"/>
                <a:ea typeface="Tahoma Bold"/>
                <a:cs typeface="Tahoma Bold"/>
                <a:sym typeface="Tahoma Bold"/>
              </a:rPr>
              <a:t>nhược</a:t>
            </a:r>
            <a:r>
              <a:rPr lang="en-US" sz="3200" b="1" noProof="0" dirty="0">
                <a:solidFill>
                  <a:srgbClr val="000000"/>
                </a:solidFill>
                <a:latin typeface="Tahoma Bold"/>
                <a:ea typeface="Tahoma Bold"/>
                <a:cs typeface="Tahoma Bold"/>
                <a:sym typeface="Tahoma Bold"/>
              </a:rPr>
              <a:t> </a:t>
            </a:r>
            <a:r>
              <a:rPr lang="en-US" sz="3200" b="1" noProof="0" dirty="0" err="1">
                <a:solidFill>
                  <a:srgbClr val="000000"/>
                </a:solidFill>
                <a:latin typeface="Tahoma Bold"/>
                <a:ea typeface="Tahoma Bold"/>
                <a:cs typeface="Tahoma Bold"/>
                <a:sym typeface="Tahoma Bold"/>
              </a:rPr>
              <a:t>điểm</a:t>
            </a:r>
            <a:endParaRPr lang="vi-VN" sz="3200" b="1" noProof="0" dirty="0">
              <a:solidFill>
                <a:srgbClr val="000000"/>
              </a:solidFill>
              <a:latin typeface="Tahoma Bold"/>
              <a:ea typeface="Tahoma Bold"/>
              <a:cs typeface="Tahoma Bold"/>
              <a:sym typeface="Tahoma Bo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r>
              <a:rPr lang="vi-VN" b="1" dirty="0">
                <a:solidFill>
                  <a:srgbClr val="000000"/>
                </a:solidFill>
                <a:latin typeface="Tahoma Bold"/>
                <a:ea typeface="Tahoma Bold"/>
                <a:cs typeface="Tahoma Bold"/>
                <a:sym typeface="Tahoma Bold"/>
              </a:rPr>
              <a:t>I. Lý do chọn đề tài</a:t>
            </a:r>
            <a:endParaRPr dirty="0"/>
          </a:p>
        </p:txBody>
      </p:sp>
      <p:sp>
        <p:nvSpPr>
          <p:cNvPr id="3" name="Content Placeholder 2"/>
          <p:cNvSpPr>
            <a:spLocks noGrp="1"/>
          </p:cNvSpPr>
          <p:nvPr>
            <p:ph idx="1"/>
          </p:nvPr>
        </p:nvSpPr>
        <p:spPr>
          <a:xfrm>
            <a:off x="228600" y="1488613"/>
            <a:ext cx="8490098" cy="3880773"/>
          </a:xfrm>
        </p:spPr>
        <p:txBody>
          <a:bodyPr>
            <a:noAutofit/>
          </a:bodyPr>
          <a:lstStyle/>
          <a:p>
            <a:pPr marL="514350" indent="-514350" algn="just">
              <a:lnSpc>
                <a:spcPct val="150000"/>
              </a:lnSpc>
              <a:spcBef>
                <a:spcPts val="600"/>
              </a:spcBef>
              <a:spcAft>
                <a:spcPts val="600"/>
              </a:spcAft>
              <a:buClr>
                <a:schemeClr val="tx1"/>
              </a:buClr>
              <a:buAutoNum type="arabicPeriod"/>
            </a:pPr>
            <a:r>
              <a:rPr lang="vi-VN" sz="2200" dirty="0">
                <a:solidFill>
                  <a:schemeClr val="tx1"/>
                </a:solidFill>
              </a:rPr>
              <a:t>Nhu cầu tra cứu thông tin học vụ của sinh viên ngày càng cao, trong khi hình thức tư vấn truyền thống còn hạn chế về thời gian và nhân lực.</a:t>
            </a:r>
          </a:p>
          <a:p>
            <a:pPr marL="514350" indent="-514350" algn="just">
              <a:lnSpc>
                <a:spcPct val="150000"/>
              </a:lnSpc>
              <a:spcBef>
                <a:spcPts val="600"/>
              </a:spcBef>
              <a:spcAft>
                <a:spcPts val="600"/>
              </a:spcAft>
              <a:buClr>
                <a:schemeClr val="tx1"/>
              </a:buClr>
              <a:buAutoNum type="arabicPeriod"/>
            </a:pPr>
            <a:r>
              <a:rPr lang="vi-VN" sz="2200" dirty="0" err="1">
                <a:solidFill>
                  <a:schemeClr val="tx1"/>
                </a:solidFill>
              </a:rPr>
              <a:t>Chatbot</a:t>
            </a:r>
            <a:r>
              <a:rPr lang="vi-VN" sz="2200" dirty="0">
                <a:solidFill>
                  <a:schemeClr val="tx1"/>
                </a:solidFill>
              </a:rPr>
              <a:t> hỗ trợ tư vấn học vụ tự động 24/7, phản hồi nhanh chóng và hiệu quả.</a:t>
            </a:r>
          </a:p>
          <a:p>
            <a:pPr marL="514350" indent="-514350" algn="just">
              <a:lnSpc>
                <a:spcPct val="150000"/>
              </a:lnSpc>
              <a:spcBef>
                <a:spcPts val="600"/>
              </a:spcBef>
              <a:spcAft>
                <a:spcPts val="600"/>
              </a:spcAft>
              <a:buClr>
                <a:schemeClr val="tx1"/>
              </a:buClr>
              <a:buAutoNum type="arabicPeriod"/>
            </a:pPr>
            <a:r>
              <a:rPr lang="vi-VN" sz="2200" dirty="0">
                <a:solidFill>
                  <a:schemeClr val="tx1"/>
                </a:solidFill>
              </a:rPr>
              <a:t>Nền tảng </a:t>
            </a:r>
            <a:r>
              <a:rPr lang="vi-VN" sz="2200" dirty="0" err="1">
                <a:solidFill>
                  <a:schemeClr val="tx1"/>
                </a:solidFill>
              </a:rPr>
              <a:t>Rasa</a:t>
            </a:r>
            <a:r>
              <a:rPr lang="vi-VN" sz="2200" dirty="0">
                <a:solidFill>
                  <a:schemeClr val="tx1"/>
                </a:solidFill>
              </a:rPr>
              <a:t> là công cụ mã nguồn mở, bảo mật và linh hoạt, phù hợp để xây dựng </a:t>
            </a:r>
            <a:r>
              <a:rPr lang="vi-VN" sz="2200" dirty="0" err="1">
                <a:solidFill>
                  <a:schemeClr val="tx1"/>
                </a:solidFill>
              </a:rPr>
              <a:t>chatbot</a:t>
            </a:r>
            <a:r>
              <a:rPr lang="vi-VN" sz="2200" dirty="0">
                <a:solidFill>
                  <a:schemeClr val="tx1"/>
                </a:solidFill>
              </a:rPr>
              <a:t> trong môi trường giáo dục.</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9357" y="397308"/>
            <a:ext cx="6347713" cy="1320800"/>
          </a:xfrm>
        </p:spPr>
        <p:txBody>
          <a:bodyPr/>
          <a:lstStyle/>
          <a:p>
            <a:pPr algn="l">
              <a:lnSpc>
                <a:spcPts val="3440"/>
              </a:lnSpc>
            </a:pPr>
            <a:r>
              <a:rPr lang="vi-VN" b="1" dirty="0">
                <a:solidFill>
                  <a:srgbClr val="000000"/>
                </a:solidFill>
                <a:latin typeface="Tahoma Bold"/>
                <a:ea typeface="Tahoma Bold"/>
                <a:cs typeface="Tahoma Bold"/>
                <a:sym typeface="Tahoma Bold"/>
              </a:rPr>
              <a:t>II. Lý thuyết </a:t>
            </a:r>
          </a:p>
        </p:txBody>
      </p:sp>
      <p:sp>
        <p:nvSpPr>
          <p:cNvPr id="3" name="Content Placeholder 2"/>
          <p:cNvSpPr>
            <a:spLocks noGrp="1"/>
          </p:cNvSpPr>
          <p:nvPr>
            <p:ph idx="1"/>
          </p:nvPr>
        </p:nvSpPr>
        <p:spPr>
          <a:xfrm>
            <a:off x="24246" y="1057708"/>
            <a:ext cx="8510155" cy="3880773"/>
          </a:xfrm>
        </p:spPr>
        <p:txBody>
          <a:bodyPr>
            <a:noAutofit/>
          </a:bodyPr>
          <a:lstStyle/>
          <a:p>
            <a:pPr>
              <a:lnSpc>
                <a:spcPct val="160000"/>
              </a:lnSpc>
              <a:spcBef>
                <a:spcPts val="600"/>
              </a:spcBef>
              <a:spcAft>
                <a:spcPts val="600"/>
              </a:spcAft>
            </a:pPr>
            <a:r>
              <a:rPr lang="vi-VN" sz="2200" b="1" dirty="0" err="1">
                <a:solidFill>
                  <a:schemeClr val="tx1"/>
                </a:solidFill>
              </a:rPr>
              <a:t>Chatbot</a:t>
            </a:r>
            <a:r>
              <a:rPr lang="vi-VN" sz="2200" dirty="0">
                <a:solidFill>
                  <a:schemeClr val="tx1"/>
                </a:solidFill>
              </a:rPr>
              <a:t>: Hệ thống phần mềm mô phỏng hội thoại người – máy, ứng dụng AI để hỗ trợ tư vấn và trả lời tự động.</a:t>
            </a:r>
            <a:endParaRPr lang="en-US" sz="2200" dirty="0">
              <a:solidFill>
                <a:schemeClr val="tx1"/>
              </a:solidFill>
            </a:endParaRPr>
          </a:p>
          <a:p>
            <a:pPr>
              <a:lnSpc>
                <a:spcPct val="160000"/>
              </a:lnSpc>
              <a:spcBef>
                <a:spcPts val="600"/>
              </a:spcBef>
              <a:spcAft>
                <a:spcPts val="600"/>
              </a:spcAft>
            </a:pPr>
            <a:r>
              <a:rPr lang="vi-VN" sz="2200" b="1" dirty="0">
                <a:solidFill>
                  <a:schemeClr val="tx1"/>
                </a:solidFill>
              </a:rPr>
              <a:t>Quản lý hội thoại</a:t>
            </a:r>
            <a:r>
              <a:rPr lang="vi-VN" sz="2200" dirty="0">
                <a:solidFill>
                  <a:schemeClr val="tx1"/>
                </a:solidFill>
              </a:rPr>
              <a:t>: Sử dụng </a:t>
            </a:r>
            <a:r>
              <a:rPr lang="vi-VN" sz="2200" dirty="0" err="1">
                <a:solidFill>
                  <a:schemeClr val="tx1"/>
                </a:solidFill>
              </a:rPr>
              <a:t>Stories</a:t>
            </a:r>
            <a:r>
              <a:rPr lang="vi-VN" sz="2200" dirty="0">
                <a:solidFill>
                  <a:schemeClr val="tx1"/>
                </a:solidFill>
              </a:rPr>
              <a:t>, </a:t>
            </a:r>
            <a:r>
              <a:rPr lang="vi-VN" sz="2200" dirty="0" err="1">
                <a:solidFill>
                  <a:schemeClr val="tx1"/>
                </a:solidFill>
              </a:rPr>
              <a:t>Rules</a:t>
            </a:r>
            <a:r>
              <a:rPr lang="vi-VN" sz="2200" dirty="0">
                <a:solidFill>
                  <a:schemeClr val="tx1"/>
                </a:solidFill>
              </a:rPr>
              <a:t> và </a:t>
            </a:r>
            <a:r>
              <a:rPr lang="vi-VN" sz="2200" dirty="0" err="1">
                <a:solidFill>
                  <a:schemeClr val="tx1"/>
                </a:solidFill>
              </a:rPr>
              <a:t>Actions</a:t>
            </a:r>
            <a:r>
              <a:rPr lang="vi-VN" sz="2200" dirty="0">
                <a:solidFill>
                  <a:schemeClr val="tx1"/>
                </a:solidFill>
              </a:rPr>
              <a:t> để điều hướng hội thoại và đưa ra phản hồi phù hợp theo ngữ cảnh.</a:t>
            </a:r>
            <a:endParaRPr lang="en-US" sz="2200" dirty="0">
              <a:solidFill>
                <a:schemeClr val="tx1"/>
              </a:solidFill>
            </a:endParaRPr>
          </a:p>
          <a:p>
            <a:pPr>
              <a:lnSpc>
                <a:spcPct val="160000"/>
              </a:lnSpc>
              <a:spcBef>
                <a:spcPts val="600"/>
              </a:spcBef>
              <a:spcAft>
                <a:spcPts val="600"/>
              </a:spcAft>
            </a:pPr>
            <a:r>
              <a:rPr lang="vi-VN" sz="2200" b="1" dirty="0">
                <a:solidFill>
                  <a:schemeClr val="tx1"/>
                </a:solidFill>
              </a:rPr>
              <a:t>Xử lý ngôn ngữ tự nhiên (NLU/NLP)</a:t>
            </a:r>
            <a:r>
              <a:rPr lang="vi-VN" sz="2200" dirty="0">
                <a:solidFill>
                  <a:schemeClr val="tx1"/>
                </a:solidFill>
              </a:rPr>
              <a:t>: Giúp </a:t>
            </a:r>
            <a:r>
              <a:rPr lang="vi-VN" sz="2200" dirty="0" err="1">
                <a:solidFill>
                  <a:schemeClr val="tx1"/>
                </a:solidFill>
              </a:rPr>
              <a:t>chatbot</a:t>
            </a:r>
            <a:r>
              <a:rPr lang="vi-VN" sz="2200" dirty="0">
                <a:solidFill>
                  <a:schemeClr val="tx1"/>
                </a:solidFill>
              </a:rPr>
              <a:t> hiểu câu hỏi của người dùng thông qua nhận diện ý định (</a:t>
            </a:r>
            <a:r>
              <a:rPr lang="vi-VN" sz="2200" dirty="0" err="1">
                <a:solidFill>
                  <a:schemeClr val="tx1"/>
                </a:solidFill>
              </a:rPr>
              <a:t>Intent</a:t>
            </a:r>
            <a:r>
              <a:rPr lang="vi-VN" sz="2200" dirty="0">
                <a:solidFill>
                  <a:schemeClr val="tx1"/>
                </a:solidFill>
              </a:rPr>
              <a:t>) và thực thể (</a:t>
            </a:r>
            <a:r>
              <a:rPr lang="vi-VN" sz="2200" dirty="0" err="1">
                <a:solidFill>
                  <a:schemeClr val="tx1"/>
                </a:solidFill>
              </a:rPr>
              <a:t>Entity</a:t>
            </a:r>
            <a:r>
              <a:rPr lang="vi-VN" sz="2200" dirty="0">
                <a:solidFill>
                  <a:schemeClr val="tx1"/>
                </a:solidFill>
              </a:rPr>
              <a:t>).</a:t>
            </a:r>
            <a:endParaRPr lang="en-US" sz="2200" dirty="0">
              <a:solidFill>
                <a:schemeClr val="tx1"/>
              </a:solidFill>
            </a:endParaRPr>
          </a:p>
          <a:p>
            <a:pPr>
              <a:lnSpc>
                <a:spcPct val="160000"/>
              </a:lnSpc>
              <a:spcBef>
                <a:spcPts val="600"/>
              </a:spcBef>
              <a:spcAft>
                <a:spcPts val="600"/>
              </a:spcAft>
            </a:pPr>
            <a:r>
              <a:rPr lang="en-US" sz="2200" b="1" dirty="0" err="1">
                <a:solidFill>
                  <a:schemeClr val="tx1"/>
                </a:solidFill>
              </a:rPr>
              <a:t>Nền</a:t>
            </a:r>
            <a:r>
              <a:rPr lang="en-US" sz="2200" b="1" dirty="0">
                <a:solidFill>
                  <a:schemeClr val="tx1"/>
                </a:solidFill>
              </a:rPr>
              <a:t> </a:t>
            </a:r>
            <a:r>
              <a:rPr lang="en-US" sz="2200" b="1" dirty="0" err="1">
                <a:solidFill>
                  <a:schemeClr val="tx1"/>
                </a:solidFill>
              </a:rPr>
              <a:t>tảng</a:t>
            </a:r>
            <a:r>
              <a:rPr lang="en-US" sz="2200" b="1" dirty="0">
                <a:solidFill>
                  <a:schemeClr val="tx1"/>
                </a:solidFill>
              </a:rPr>
              <a:t> Rasa</a:t>
            </a:r>
            <a:r>
              <a:rPr lang="en-US" sz="2200" dirty="0">
                <a:solidFill>
                  <a:schemeClr val="tx1"/>
                </a:solidFill>
              </a:rPr>
              <a:t>: Framework </a:t>
            </a:r>
            <a:r>
              <a:rPr lang="en-US" sz="2200" dirty="0" err="1">
                <a:solidFill>
                  <a:schemeClr val="tx1"/>
                </a:solidFill>
              </a:rPr>
              <a:t>mã</a:t>
            </a:r>
            <a:r>
              <a:rPr lang="en-US" sz="2200" dirty="0">
                <a:solidFill>
                  <a:schemeClr val="tx1"/>
                </a:solidFill>
              </a:rPr>
              <a:t> </a:t>
            </a:r>
            <a:r>
              <a:rPr lang="en-US" sz="2200" dirty="0" err="1">
                <a:solidFill>
                  <a:schemeClr val="tx1"/>
                </a:solidFill>
              </a:rPr>
              <a:t>nguồn</a:t>
            </a:r>
            <a:r>
              <a:rPr lang="en-US" sz="2200" dirty="0">
                <a:solidFill>
                  <a:schemeClr val="tx1"/>
                </a:solidFill>
              </a:rPr>
              <a:t> </a:t>
            </a:r>
            <a:r>
              <a:rPr lang="en-US" sz="2200" dirty="0" err="1">
                <a:solidFill>
                  <a:schemeClr val="tx1"/>
                </a:solidFill>
              </a:rPr>
              <a:t>mở</a:t>
            </a:r>
            <a:r>
              <a:rPr lang="en-US" sz="2200" dirty="0">
                <a:solidFill>
                  <a:schemeClr val="tx1"/>
                </a:solidFill>
              </a:rPr>
              <a:t> </a:t>
            </a:r>
            <a:r>
              <a:rPr lang="en-US" sz="2200" dirty="0" err="1">
                <a:solidFill>
                  <a:schemeClr val="tx1"/>
                </a:solidFill>
              </a:rPr>
              <a:t>hỗ</a:t>
            </a:r>
            <a:r>
              <a:rPr lang="en-US" sz="2200" dirty="0">
                <a:solidFill>
                  <a:schemeClr val="tx1"/>
                </a:solidFill>
              </a:rPr>
              <a:t> </a:t>
            </a:r>
            <a:r>
              <a:rPr lang="en-US" sz="2200" dirty="0" err="1">
                <a:solidFill>
                  <a:schemeClr val="tx1"/>
                </a:solidFill>
              </a:rPr>
              <a:t>trợ</a:t>
            </a:r>
            <a:r>
              <a:rPr lang="en-US" sz="2200" dirty="0">
                <a:solidFill>
                  <a:schemeClr val="tx1"/>
                </a:solidFill>
              </a:rPr>
              <a:t> </a:t>
            </a:r>
            <a:r>
              <a:rPr lang="en-US" sz="2200" dirty="0" err="1">
                <a:solidFill>
                  <a:schemeClr val="tx1"/>
                </a:solidFill>
              </a:rPr>
              <a:t>xây</a:t>
            </a:r>
            <a:r>
              <a:rPr lang="en-US" sz="2200" dirty="0">
                <a:solidFill>
                  <a:schemeClr val="tx1"/>
                </a:solidFill>
              </a:rPr>
              <a:t> </a:t>
            </a:r>
            <a:r>
              <a:rPr lang="en-US" sz="2200" dirty="0" err="1">
                <a:solidFill>
                  <a:schemeClr val="tx1"/>
                </a:solidFill>
              </a:rPr>
              <a:t>dựng</a:t>
            </a:r>
            <a:r>
              <a:rPr lang="en-US" sz="2200" dirty="0">
                <a:solidFill>
                  <a:schemeClr val="tx1"/>
                </a:solidFill>
              </a:rPr>
              <a:t> chatbot, </a:t>
            </a:r>
            <a:r>
              <a:rPr lang="en-US" sz="2200" dirty="0" err="1">
                <a:solidFill>
                  <a:schemeClr val="tx1"/>
                </a:solidFill>
              </a:rPr>
              <a:t>gồm</a:t>
            </a:r>
            <a:r>
              <a:rPr lang="en-US" sz="2200" dirty="0">
                <a:solidFill>
                  <a:schemeClr val="tx1"/>
                </a:solidFill>
              </a:rPr>
              <a:t> </a:t>
            </a:r>
            <a:r>
              <a:rPr lang="en-US" sz="2200" dirty="0" err="1">
                <a:solidFill>
                  <a:schemeClr val="tx1"/>
                </a:solidFill>
              </a:rPr>
              <a:t>hai</a:t>
            </a:r>
            <a:r>
              <a:rPr lang="en-US" sz="2200" dirty="0">
                <a:solidFill>
                  <a:schemeClr val="tx1"/>
                </a:solidFill>
              </a:rPr>
              <a:t> </a:t>
            </a:r>
            <a:r>
              <a:rPr lang="en-US" sz="2200" dirty="0" err="1">
                <a:solidFill>
                  <a:schemeClr val="tx1"/>
                </a:solidFill>
              </a:rPr>
              <a:t>thành</a:t>
            </a:r>
            <a:r>
              <a:rPr lang="en-US" sz="2200" dirty="0">
                <a:solidFill>
                  <a:schemeClr val="tx1"/>
                </a:solidFill>
              </a:rPr>
              <a:t> </a:t>
            </a:r>
            <a:r>
              <a:rPr lang="en-US" sz="2200" dirty="0" err="1">
                <a:solidFill>
                  <a:schemeClr val="tx1"/>
                </a:solidFill>
              </a:rPr>
              <a:t>phần</a:t>
            </a:r>
            <a:r>
              <a:rPr lang="en-US" sz="2200" dirty="0">
                <a:solidFill>
                  <a:schemeClr val="tx1"/>
                </a:solidFill>
              </a:rPr>
              <a:t> </a:t>
            </a:r>
            <a:r>
              <a:rPr lang="en-US" sz="2200" dirty="0" err="1">
                <a:solidFill>
                  <a:schemeClr val="tx1"/>
                </a:solidFill>
              </a:rPr>
              <a:t>chính</a:t>
            </a:r>
            <a:r>
              <a:rPr lang="en-US" sz="2200" dirty="0">
                <a:solidFill>
                  <a:schemeClr val="tx1"/>
                </a:solidFill>
              </a:rPr>
              <a:t> </a:t>
            </a:r>
            <a:r>
              <a:rPr lang="en-US" sz="2200" dirty="0" err="1">
                <a:solidFill>
                  <a:schemeClr val="tx1"/>
                </a:solidFill>
              </a:rPr>
              <a:t>là</a:t>
            </a:r>
            <a:r>
              <a:rPr lang="en-US" sz="2200" dirty="0">
                <a:solidFill>
                  <a:schemeClr val="tx1"/>
                </a:solidFill>
              </a:rPr>
              <a:t> </a:t>
            </a:r>
            <a:r>
              <a:rPr lang="en-US" sz="2200" b="1" dirty="0">
                <a:solidFill>
                  <a:schemeClr val="tx1"/>
                </a:solidFill>
              </a:rPr>
              <a:t>Rasa NLU</a:t>
            </a:r>
            <a:r>
              <a:rPr lang="en-US" sz="2200" dirty="0">
                <a:solidFill>
                  <a:schemeClr val="tx1"/>
                </a:solidFill>
              </a:rPr>
              <a:t> </a:t>
            </a:r>
            <a:r>
              <a:rPr lang="en-US" sz="2200" dirty="0" err="1">
                <a:solidFill>
                  <a:schemeClr val="tx1"/>
                </a:solidFill>
              </a:rPr>
              <a:t>và</a:t>
            </a:r>
            <a:r>
              <a:rPr lang="en-US" sz="2200" dirty="0">
                <a:solidFill>
                  <a:schemeClr val="tx1"/>
                </a:solidFill>
              </a:rPr>
              <a:t> </a:t>
            </a:r>
            <a:r>
              <a:rPr lang="en-US" sz="2200" b="1" dirty="0">
                <a:solidFill>
                  <a:schemeClr val="tx1"/>
                </a:solidFill>
              </a:rPr>
              <a:t>Rasa Core</a:t>
            </a:r>
            <a:r>
              <a:rPr lang="en-US" sz="2200" dirty="0">
                <a:solidFill>
                  <a:schemeClr val="tx1"/>
                </a:solidFill>
              </a:rPr>
              <a:t>.</a:t>
            </a:r>
            <a:endParaRPr lang="vi-VN" sz="2200" dirty="0">
              <a:solidFill>
                <a:schemeClr val="tx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83458" y="565501"/>
            <a:ext cx="8229600" cy="1143000"/>
          </a:xfrm>
        </p:spPr>
        <p:txBody>
          <a:bodyPr/>
          <a:lstStyle/>
          <a:p>
            <a:pPr algn="l">
              <a:lnSpc>
                <a:spcPts val="3439"/>
              </a:lnSpc>
            </a:pPr>
            <a:r>
              <a:rPr lang="vi-VN" b="1" dirty="0">
                <a:solidFill>
                  <a:srgbClr val="000000"/>
                </a:solidFill>
                <a:latin typeface="Tahoma Bold"/>
                <a:ea typeface="Tahoma Bold"/>
                <a:cs typeface="Tahoma Bold"/>
                <a:sym typeface="Tahoma Bold"/>
              </a:rPr>
              <a:t>III. Kết quả đạt được</a:t>
            </a:r>
          </a:p>
        </p:txBody>
      </p:sp>
      <p:sp>
        <p:nvSpPr>
          <p:cNvPr id="3" name="Content Placeholder 2"/>
          <p:cNvSpPr>
            <a:spLocks noGrp="1"/>
          </p:cNvSpPr>
          <p:nvPr>
            <p:ph idx="1"/>
          </p:nvPr>
        </p:nvSpPr>
        <p:spPr>
          <a:xfrm>
            <a:off x="294966" y="1285519"/>
            <a:ext cx="7913851" cy="3880773"/>
          </a:xfrm>
        </p:spPr>
        <p:txBody>
          <a:bodyPr>
            <a:normAutofit/>
          </a:bodyPr>
          <a:lstStyle/>
          <a:p>
            <a:pPr marL="0" indent="0">
              <a:buNone/>
            </a:pPr>
            <a:r>
              <a:rPr lang="en-US" sz="2400" b="1" dirty="0">
                <a:solidFill>
                  <a:schemeClr val="tx1"/>
                </a:solidFill>
              </a:rPr>
              <a:t>1. </a:t>
            </a:r>
            <a:r>
              <a:rPr lang="vi-VN" sz="2400" b="1" dirty="0">
                <a:solidFill>
                  <a:schemeClr val="tx1"/>
                </a:solidFill>
              </a:rPr>
              <a:t>Giao diện tổng thể của </a:t>
            </a:r>
            <a:r>
              <a:rPr lang="vi-VN" sz="2400" b="1" dirty="0" err="1">
                <a:solidFill>
                  <a:schemeClr val="tx1"/>
                </a:solidFill>
              </a:rPr>
              <a:t>chatbot</a:t>
            </a:r>
            <a:endParaRPr lang="en-US" sz="2400" dirty="0">
              <a:solidFill>
                <a:schemeClr val="tx1"/>
              </a:solidFill>
            </a:endParaRPr>
          </a:p>
          <a:p>
            <a:pPr marL="0" indent="0">
              <a:buNone/>
            </a:pPr>
            <a:r>
              <a:rPr lang="en-US" sz="2200" dirty="0">
                <a:solidFill>
                  <a:schemeClr val="tx1"/>
                </a:solidFill>
              </a:rPr>
              <a:t>- </a:t>
            </a:r>
            <a:r>
              <a:rPr lang="vi-VN" sz="2200" dirty="0">
                <a:solidFill>
                  <a:schemeClr val="tx1"/>
                </a:solidFill>
              </a:rPr>
              <a:t>Xây dựng thành công </a:t>
            </a:r>
            <a:r>
              <a:rPr lang="vi-VN" sz="2200" dirty="0" err="1">
                <a:solidFill>
                  <a:schemeClr val="tx1"/>
                </a:solidFill>
              </a:rPr>
              <a:t>chatbot</a:t>
            </a:r>
            <a:r>
              <a:rPr lang="vi-VN" sz="2200" dirty="0">
                <a:solidFill>
                  <a:schemeClr val="tx1"/>
                </a:solidFill>
              </a:rPr>
              <a:t> tư vấn học vụ cho sinh viên Trường Đại học Trà Vinh dựa trên nền tảng </a:t>
            </a:r>
            <a:r>
              <a:rPr lang="vi-VN" sz="2200" dirty="0" err="1">
                <a:solidFill>
                  <a:schemeClr val="tx1"/>
                </a:solidFill>
              </a:rPr>
              <a:t>Rasa</a:t>
            </a:r>
            <a:r>
              <a:rPr lang="vi-VN" sz="2200" dirty="0">
                <a:solidFill>
                  <a:schemeClr val="tx1"/>
                </a:solidFill>
              </a:rPr>
              <a:t>.</a:t>
            </a:r>
            <a:endParaRPr lang="en-US" sz="2200" dirty="0">
              <a:solidFill>
                <a:schemeClr val="tx1"/>
              </a:solidFill>
            </a:endParaRPr>
          </a:p>
          <a:p>
            <a:pPr marL="0" indent="0">
              <a:buNone/>
            </a:pPr>
            <a:endParaRPr sz="2200" dirty="0">
              <a:solidFill>
                <a:schemeClr val="tx1"/>
              </a:solidFill>
            </a:endParaRPr>
          </a:p>
        </p:txBody>
      </p:sp>
      <p:sp>
        <p:nvSpPr>
          <p:cNvPr id="8" name="TextBox 7">
            <a:extLst>
              <a:ext uri="{FF2B5EF4-FFF2-40B4-BE49-F238E27FC236}">
                <a16:creationId xmlns:a16="http://schemas.microsoft.com/office/drawing/2014/main" id="{20DF30D8-7B0A-36B0-54B6-D2A337409E1D}"/>
              </a:ext>
            </a:extLst>
          </p:cNvPr>
          <p:cNvSpPr txBox="1"/>
          <p:nvPr/>
        </p:nvSpPr>
        <p:spPr>
          <a:xfrm>
            <a:off x="339212" y="2798650"/>
            <a:ext cx="3539613" cy="3816429"/>
          </a:xfrm>
          <a:prstGeom prst="rect">
            <a:avLst/>
          </a:prstGeom>
          <a:noFill/>
        </p:spPr>
        <p:txBody>
          <a:bodyPr wrap="square" rtlCol="0">
            <a:spAutoFit/>
          </a:bodyPr>
          <a:lstStyle/>
          <a:p>
            <a:r>
              <a:rPr lang="en-US" sz="2200" dirty="0">
                <a:latin typeface="Arial" panose="020B0604020202020204" pitchFamily="34" charset="0"/>
                <a:cs typeface="Arial" panose="020B0604020202020204" pitchFamily="34" charset="0"/>
              </a:rPr>
              <a:t>- Thanh </a:t>
            </a:r>
            <a:r>
              <a:rPr lang="en-US" sz="2200" dirty="0" err="1">
                <a:latin typeface="Arial" panose="020B0604020202020204" pitchFamily="34" charset="0"/>
                <a:cs typeface="Arial" panose="020B0604020202020204" pitchFamily="34" charset="0"/>
              </a:rPr>
              <a:t>tiêu</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đề</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hiển</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thị</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tên</a:t>
            </a:r>
            <a:r>
              <a:rPr lang="en-US" sz="2200" dirty="0">
                <a:latin typeface="Arial" panose="020B0604020202020204" pitchFamily="34" charset="0"/>
                <a:cs typeface="Arial" panose="020B0604020202020204" pitchFamily="34" charset="0"/>
              </a:rPr>
              <a:t> chatbot: </a:t>
            </a:r>
            <a:r>
              <a:rPr lang="en-US" sz="2200" i="1" dirty="0">
                <a:latin typeface="Arial" panose="020B0604020202020204" pitchFamily="34" charset="0"/>
                <a:cs typeface="Arial" panose="020B0604020202020204" pitchFamily="34" charset="0"/>
              </a:rPr>
              <a:t>“Chatbot </a:t>
            </a:r>
            <a:r>
              <a:rPr lang="en-US" sz="2200" i="1" dirty="0" err="1">
                <a:latin typeface="Arial" panose="020B0604020202020204" pitchFamily="34" charset="0"/>
                <a:cs typeface="Arial" panose="020B0604020202020204" pitchFamily="34" charset="0"/>
              </a:rPr>
              <a:t>tư</a:t>
            </a:r>
            <a:r>
              <a:rPr lang="en-US" sz="2200" i="1" dirty="0">
                <a:latin typeface="Arial" panose="020B0604020202020204" pitchFamily="34" charset="0"/>
                <a:cs typeface="Arial" panose="020B0604020202020204" pitchFamily="34" charset="0"/>
              </a:rPr>
              <a:t> </a:t>
            </a:r>
            <a:r>
              <a:rPr lang="en-US" sz="2200" i="1" dirty="0" err="1">
                <a:latin typeface="Arial" panose="020B0604020202020204" pitchFamily="34" charset="0"/>
                <a:cs typeface="Arial" panose="020B0604020202020204" pitchFamily="34" charset="0"/>
              </a:rPr>
              <a:t>vấn</a:t>
            </a:r>
            <a:r>
              <a:rPr lang="en-US" sz="2200" i="1" dirty="0">
                <a:latin typeface="Arial" panose="020B0604020202020204" pitchFamily="34" charset="0"/>
                <a:cs typeface="Arial" panose="020B0604020202020204" pitchFamily="34" charset="0"/>
              </a:rPr>
              <a:t> </a:t>
            </a:r>
            <a:r>
              <a:rPr lang="en-US" sz="2200" i="1" dirty="0" err="1">
                <a:latin typeface="Arial" panose="020B0604020202020204" pitchFamily="34" charset="0"/>
                <a:cs typeface="Arial" panose="020B0604020202020204" pitchFamily="34" charset="0"/>
              </a:rPr>
              <a:t>học</a:t>
            </a:r>
            <a:r>
              <a:rPr lang="en-US" sz="2200" i="1" dirty="0">
                <a:latin typeface="Arial" panose="020B0604020202020204" pitchFamily="34" charset="0"/>
                <a:cs typeface="Arial" panose="020B0604020202020204" pitchFamily="34" charset="0"/>
              </a:rPr>
              <a:t> </a:t>
            </a:r>
            <a:r>
              <a:rPr lang="en-US" sz="2200" i="1" dirty="0" err="1">
                <a:latin typeface="Arial" panose="020B0604020202020204" pitchFamily="34" charset="0"/>
                <a:cs typeface="Arial" panose="020B0604020202020204" pitchFamily="34" charset="0"/>
              </a:rPr>
              <a:t>vụ</a:t>
            </a:r>
            <a:r>
              <a:rPr lang="en-US" sz="2200" i="1" dirty="0">
                <a:latin typeface="Arial" panose="020B0604020202020204" pitchFamily="34" charset="0"/>
                <a:cs typeface="Arial" panose="020B0604020202020204" pitchFamily="34" charset="0"/>
              </a:rPr>
              <a:t> Trường </a:t>
            </a:r>
            <a:r>
              <a:rPr lang="en-US" sz="2200" i="1" dirty="0" err="1">
                <a:latin typeface="Arial" panose="020B0604020202020204" pitchFamily="34" charset="0"/>
                <a:cs typeface="Arial" panose="020B0604020202020204" pitchFamily="34" charset="0"/>
              </a:rPr>
              <a:t>Đại</a:t>
            </a:r>
            <a:r>
              <a:rPr lang="en-US" sz="2200" i="1" dirty="0">
                <a:latin typeface="Arial" panose="020B0604020202020204" pitchFamily="34" charset="0"/>
                <a:cs typeface="Arial" panose="020B0604020202020204" pitchFamily="34" charset="0"/>
              </a:rPr>
              <a:t> </a:t>
            </a:r>
            <a:r>
              <a:rPr lang="en-US" sz="2200" i="1" dirty="0" err="1">
                <a:latin typeface="Arial" panose="020B0604020202020204" pitchFamily="34" charset="0"/>
                <a:cs typeface="Arial" panose="020B0604020202020204" pitchFamily="34" charset="0"/>
              </a:rPr>
              <a:t>học</a:t>
            </a:r>
            <a:r>
              <a:rPr lang="en-US" sz="2200" i="1" dirty="0">
                <a:latin typeface="Arial" panose="020B0604020202020204" pitchFamily="34" charset="0"/>
                <a:cs typeface="Arial" panose="020B0604020202020204" pitchFamily="34" charset="0"/>
              </a:rPr>
              <a:t> Trà Vinh”</a:t>
            </a:r>
            <a:r>
              <a:rPr lang="en-US" sz="2200" dirty="0">
                <a:latin typeface="Arial" panose="020B0604020202020204" pitchFamily="34" charset="0"/>
                <a:cs typeface="Arial" panose="020B0604020202020204" pitchFamily="34" charset="0"/>
              </a:rPr>
              <a:t>.</a:t>
            </a:r>
          </a:p>
          <a:p>
            <a:r>
              <a:rPr lang="en-US" sz="2200" dirty="0">
                <a:latin typeface="Arial" panose="020B0604020202020204" pitchFamily="34" charset="0"/>
                <a:cs typeface="Arial" panose="020B0604020202020204" pitchFamily="34" charset="0"/>
              </a:rPr>
              <a:t>- Khu </a:t>
            </a:r>
            <a:r>
              <a:rPr lang="en-US" sz="2200" dirty="0" err="1">
                <a:latin typeface="Arial" panose="020B0604020202020204" pitchFamily="34" charset="0"/>
                <a:cs typeface="Arial" panose="020B0604020202020204" pitchFamily="34" charset="0"/>
              </a:rPr>
              <a:t>vực</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hiển</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thị</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nội</a:t>
            </a:r>
            <a:r>
              <a:rPr lang="en-US" sz="2200" dirty="0">
                <a:latin typeface="Arial" panose="020B0604020202020204" pitchFamily="34" charset="0"/>
                <a:cs typeface="Arial" panose="020B0604020202020204" pitchFamily="34" charset="0"/>
              </a:rPr>
              <a:t> dung </a:t>
            </a:r>
            <a:r>
              <a:rPr lang="en-US" sz="2200" dirty="0" err="1">
                <a:latin typeface="Arial" panose="020B0604020202020204" pitchFamily="34" charset="0"/>
                <a:cs typeface="Arial" panose="020B0604020202020204" pitchFamily="34" charset="0"/>
              </a:rPr>
              <a:t>hội</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thoại</a:t>
            </a:r>
            <a:r>
              <a:rPr lang="en-US" sz="2200" dirty="0">
                <a:latin typeface="Arial" panose="020B0604020202020204" pitchFamily="34" charset="0"/>
                <a:cs typeface="Arial" panose="020B0604020202020204" pitchFamily="34" charset="0"/>
              </a:rPr>
              <a:t>.</a:t>
            </a:r>
          </a:p>
          <a:p>
            <a:r>
              <a:rPr lang="en-US" sz="2200" dirty="0">
                <a:latin typeface="Arial" panose="020B0604020202020204" pitchFamily="34" charset="0"/>
                <a:cs typeface="Arial" panose="020B0604020202020204" pitchFamily="34" charset="0"/>
              </a:rPr>
              <a:t>- Thanh </a:t>
            </a:r>
            <a:r>
              <a:rPr lang="en-US" sz="2200" dirty="0" err="1">
                <a:latin typeface="Arial" panose="020B0604020202020204" pitchFamily="34" charset="0"/>
                <a:cs typeface="Arial" panose="020B0604020202020204" pitchFamily="34" charset="0"/>
              </a:rPr>
              <a:t>nhập</a:t>
            </a:r>
            <a:r>
              <a:rPr lang="en-US" sz="2200" dirty="0">
                <a:latin typeface="Arial" panose="020B0604020202020204" pitchFamily="34" charset="0"/>
                <a:cs typeface="Arial" panose="020B0604020202020204" pitchFamily="34" charset="0"/>
              </a:rPr>
              <a:t> tin </a:t>
            </a:r>
            <a:r>
              <a:rPr lang="en-US" sz="2200" dirty="0" err="1">
                <a:latin typeface="Arial" panose="020B0604020202020204" pitchFamily="34" charset="0"/>
                <a:cs typeface="Arial" panose="020B0604020202020204" pitchFamily="34" charset="0"/>
              </a:rPr>
              <a:t>nhắn</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và</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nút</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gửi</a:t>
            </a:r>
            <a:r>
              <a:rPr lang="en-US" sz="2200" dirty="0">
                <a:latin typeface="Arial" panose="020B0604020202020204" pitchFamily="34" charset="0"/>
                <a:cs typeface="Arial" panose="020B0604020202020204" pitchFamily="34" charset="0"/>
              </a:rPr>
              <a:t> ở </a:t>
            </a:r>
            <a:r>
              <a:rPr lang="en-US" sz="2200" dirty="0" err="1">
                <a:latin typeface="Arial" panose="020B0604020202020204" pitchFamily="34" charset="0"/>
                <a:cs typeface="Arial" panose="020B0604020202020204" pitchFamily="34" charset="0"/>
              </a:rPr>
              <a:t>cuối</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màn</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hình</a:t>
            </a:r>
            <a:r>
              <a:rPr lang="en-US" sz="2200" dirty="0">
                <a:latin typeface="Arial" panose="020B0604020202020204" pitchFamily="34" charset="0"/>
                <a:cs typeface="Arial" panose="020B0604020202020204" pitchFamily="34" charset="0"/>
              </a:rPr>
              <a:t>.</a:t>
            </a:r>
          </a:p>
          <a:p>
            <a:r>
              <a:rPr lang="en-US" sz="2200" dirty="0">
                <a:latin typeface="Arial" panose="020B0604020202020204" pitchFamily="34" charset="0"/>
                <a:cs typeface="Arial" panose="020B0604020202020204" pitchFamily="34" charset="0"/>
              </a:rPr>
              <a:t>- Menu </a:t>
            </a:r>
            <a:r>
              <a:rPr lang="en-US" sz="2200" dirty="0" err="1">
                <a:latin typeface="Arial" panose="020B0604020202020204" pitchFamily="34" charset="0"/>
                <a:cs typeface="Arial" panose="020B0604020202020204" pitchFamily="34" charset="0"/>
              </a:rPr>
              <a:t>bên</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trái</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cho</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phép</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tạo</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cuộc</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trò</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chuyện</a:t>
            </a:r>
            <a:r>
              <a:rPr lang="en-US" sz="2200" dirty="0">
                <a:latin typeface="Arial" panose="020B0604020202020204" pitchFamily="34" charset="0"/>
                <a:cs typeface="Arial" panose="020B0604020202020204" pitchFamily="34" charset="0"/>
              </a:rPr>
              <a:t> </a:t>
            </a:r>
            <a:r>
              <a:rPr lang="en-US" sz="2200" dirty="0" err="1">
                <a:latin typeface="Arial" panose="020B0604020202020204" pitchFamily="34" charset="0"/>
                <a:cs typeface="Arial" panose="020B0604020202020204" pitchFamily="34" charset="0"/>
              </a:rPr>
              <a:t>mới</a:t>
            </a:r>
            <a:r>
              <a:rPr lang="en-US" sz="2200" dirty="0">
                <a:latin typeface="Arial" panose="020B0604020202020204" pitchFamily="34" charset="0"/>
                <a:cs typeface="Arial" panose="020B0604020202020204" pitchFamily="34" charset="0"/>
              </a:rPr>
              <a:t>.</a:t>
            </a:r>
          </a:p>
          <a:p>
            <a:endParaRPr lang="en-US" sz="2200" dirty="0">
              <a:latin typeface="Arial" panose="020B0604020202020204" pitchFamily="34" charset="0"/>
              <a:cs typeface="Arial" panose="020B0604020202020204" pitchFamily="34" charset="0"/>
            </a:endParaRPr>
          </a:p>
        </p:txBody>
      </p:sp>
      <p:pic>
        <p:nvPicPr>
          <p:cNvPr id="9" name="Picture 8" descr="A screenshot of a computer&#10;&#10;AI-generated content may be incorrect.">
            <a:extLst>
              <a:ext uri="{FF2B5EF4-FFF2-40B4-BE49-F238E27FC236}">
                <a16:creationId xmlns:a16="http://schemas.microsoft.com/office/drawing/2014/main" id="{CB4C7B58-1179-E10D-944A-4A4C82D3B4B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923070" y="3121232"/>
            <a:ext cx="4837471" cy="317126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92641" y="420851"/>
            <a:ext cx="6347713" cy="770051"/>
          </a:xfrm>
        </p:spPr>
        <p:txBody>
          <a:bodyPr/>
          <a:lstStyle/>
          <a:p>
            <a:pPr algn="l"/>
            <a:r>
              <a:rPr lang="vi-VN" b="1" dirty="0">
                <a:solidFill>
                  <a:srgbClr val="000000"/>
                </a:solidFill>
                <a:latin typeface="+mn-lt"/>
                <a:ea typeface="Tahoma Bold"/>
                <a:cs typeface="Tahoma Bold"/>
                <a:sym typeface="Tahoma Bold"/>
              </a:rPr>
              <a:t>III. Kết quả đạt được</a:t>
            </a:r>
            <a:endParaRPr dirty="0">
              <a:latin typeface="+mn-lt"/>
            </a:endParaRPr>
          </a:p>
        </p:txBody>
      </p:sp>
      <p:sp>
        <p:nvSpPr>
          <p:cNvPr id="6" name="Content Placeholder 5">
            <a:extLst>
              <a:ext uri="{FF2B5EF4-FFF2-40B4-BE49-F238E27FC236}">
                <a16:creationId xmlns:a16="http://schemas.microsoft.com/office/drawing/2014/main" id="{88BF7580-FB51-BF9B-AB02-7C789C3FC34F}"/>
              </a:ext>
            </a:extLst>
          </p:cNvPr>
          <p:cNvSpPr>
            <a:spLocks noGrp="1"/>
          </p:cNvSpPr>
          <p:nvPr>
            <p:ph idx="1"/>
          </p:nvPr>
        </p:nvSpPr>
        <p:spPr>
          <a:xfrm>
            <a:off x="184731" y="1020781"/>
            <a:ext cx="8692388" cy="3880773"/>
          </a:xfrm>
        </p:spPr>
        <p:txBody>
          <a:bodyPr>
            <a:normAutofit/>
          </a:bodyPr>
          <a:lstStyle/>
          <a:p>
            <a:pPr marL="0" indent="0">
              <a:lnSpc>
                <a:spcPct val="150000"/>
              </a:lnSpc>
              <a:spcBef>
                <a:spcPts val="600"/>
              </a:spcBef>
              <a:spcAft>
                <a:spcPts val="600"/>
              </a:spcAft>
              <a:buNone/>
            </a:pPr>
            <a:r>
              <a:rPr lang="en-US" sz="2400" b="1" dirty="0">
                <a:solidFill>
                  <a:schemeClr val="tx1"/>
                </a:solidFill>
              </a:rPr>
              <a:t>2. </a:t>
            </a:r>
            <a:r>
              <a:rPr lang="en-US" sz="2400" b="1" dirty="0" err="1">
                <a:solidFill>
                  <a:schemeClr val="tx1"/>
                </a:solidFill>
              </a:rPr>
              <a:t>Kết</a:t>
            </a:r>
            <a:r>
              <a:rPr lang="en-US" sz="2400" b="1" dirty="0">
                <a:solidFill>
                  <a:schemeClr val="tx1"/>
                </a:solidFill>
              </a:rPr>
              <a:t> </a:t>
            </a:r>
            <a:r>
              <a:rPr lang="en-US" sz="2400" b="1" dirty="0" err="1">
                <a:solidFill>
                  <a:schemeClr val="tx1"/>
                </a:solidFill>
              </a:rPr>
              <a:t>quả</a:t>
            </a:r>
            <a:r>
              <a:rPr lang="en-US" sz="2400" b="1" dirty="0">
                <a:solidFill>
                  <a:schemeClr val="tx1"/>
                </a:solidFill>
              </a:rPr>
              <a:t> </a:t>
            </a:r>
            <a:r>
              <a:rPr lang="en-US" sz="2400" b="1" dirty="0" err="1">
                <a:solidFill>
                  <a:schemeClr val="tx1"/>
                </a:solidFill>
              </a:rPr>
              <a:t>về</a:t>
            </a:r>
            <a:r>
              <a:rPr lang="en-US" sz="2400" b="1" dirty="0">
                <a:solidFill>
                  <a:schemeClr val="tx1"/>
                </a:solidFill>
              </a:rPr>
              <a:t> </a:t>
            </a:r>
            <a:r>
              <a:rPr lang="en-US" sz="2400" b="1" dirty="0" err="1">
                <a:solidFill>
                  <a:schemeClr val="tx1"/>
                </a:solidFill>
              </a:rPr>
              <a:t>mặt</a:t>
            </a:r>
            <a:r>
              <a:rPr lang="en-US" sz="2400" b="1" dirty="0">
                <a:solidFill>
                  <a:schemeClr val="tx1"/>
                </a:solidFill>
              </a:rPr>
              <a:t> </a:t>
            </a:r>
            <a:r>
              <a:rPr lang="en-US" sz="2400" b="1" dirty="0" err="1">
                <a:solidFill>
                  <a:schemeClr val="tx1"/>
                </a:solidFill>
              </a:rPr>
              <a:t>kỹ</a:t>
            </a:r>
            <a:r>
              <a:rPr lang="en-US" sz="2400" b="1" dirty="0">
                <a:solidFill>
                  <a:schemeClr val="tx1"/>
                </a:solidFill>
              </a:rPr>
              <a:t> </a:t>
            </a:r>
            <a:r>
              <a:rPr lang="en-US" sz="2400" b="1" dirty="0" err="1">
                <a:solidFill>
                  <a:schemeClr val="tx1"/>
                </a:solidFill>
              </a:rPr>
              <a:t>thuật</a:t>
            </a:r>
            <a:endParaRPr lang="en-US" sz="2400" b="1" dirty="0">
              <a:solidFill>
                <a:schemeClr val="tx1"/>
              </a:solidFill>
            </a:endParaRPr>
          </a:p>
          <a:p>
            <a:pPr marL="0" lvl="0" indent="0" defTabSz="914400" eaLnBrk="0" fontAlgn="base" hangingPunct="0">
              <a:lnSpc>
                <a:spcPct val="150000"/>
              </a:lnSpc>
              <a:spcBef>
                <a:spcPts val="600"/>
              </a:spcBef>
              <a:spcAft>
                <a:spcPts val="600"/>
              </a:spcAft>
              <a:buNone/>
            </a:pPr>
            <a:r>
              <a:rPr lang="en-US" sz="2200" dirty="0">
                <a:solidFill>
                  <a:schemeClr val="tx1"/>
                </a:solidFill>
              </a:rPr>
              <a:t>-</a:t>
            </a:r>
            <a:r>
              <a:rPr lang="en-US" sz="2200" b="1" dirty="0">
                <a:solidFill>
                  <a:schemeClr val="tx1"/>
                </a:solidFill>
              </a:rPr>
              <a:t> </a:t>
            </a:r>
            <a:r>
              <a:rPr lang="en-US" altLang="en-US" sz="2200" dirty="0" err="1">
                <a:solidFill>
                  <a:schemeClr val="tx1"/>
                </a:solidFill>
                <a:latin typeface="Arial" panose="020B0604020202020204" pitchFamily="34" charset="0"/>
              </a:rPr>
              <a:t>Thiết</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lập</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và</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triển</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khai</a:t>
            </a:r>
            <a:r>
              <a:rPr lang="en-US" altLang="en-US" sz="2200" dirty="0">
                <a:solidFill>
                  <a:schemeClr val="tx1"/>
                </a:solidFill>
                <a:latin typeface="Arial" panose="020B0604020202020204" pitchFamily="34" charset="0"/>
              </a:rPr>
              <a:t> chatbot </a:t>
            </a:r>
            <a:r>
              <a:rPr lang="en-US" altLang="en-US" sz="2200" dirty="0" err="1">
                <a:solidFill>
                  <a:schemeClr val="tx1"/>
                </a:solidFill>
                <a:latin typeface="Arial" panose="020B0604020202020204" pitchFamily="34" charset="0"/>
              </a:rPr>
              <a:t>bằng</a:t>
            </a:r>
            <a:r>
              <a:rPr lang="en-US" altLang="en-US" sz="2200" dirty="0">
                <a:solidFill>
                  <a:schemeClr val="tx1"/>
                </a:solidFill>
                <a:latin typeface="Arial" panose="020B0604020202020204" pitchFamily="34" charset="0"/>
              </a:rPr>
              <a:t> Rasa </a:t>
            </a:r>
            <a:r>
              <a:rPr lang="en-US" altLang="en-US" sz="2200" dirty="0" err="1">
                <a:solidFill>
                  <a:schemeClr val="tx1"/>
                </a:solidFill>
                <a:latin typeface="Arial" panose="020B0604020202020204" pitchFamily="34" charset="0"/>
              </a:rPr>
              <a:t>trên</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môi</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trường</a:t>
            </a:r>
            <a:r>
              <a:rPr lang="en-US" altLang="en-US" sz="2200" dirty="0">
                <a:solidFill>
                  <a:schemeClr val="tx1"/>
                </a:solidFill>
                <a:latin typeface="Arial" panose="020B0604020202020204" pitchFamily="34" charset="0"/>
              </a:rPr>
              <a:t> Docker</a:t>
            </a:r>
          </a:p>
          <a:p>
            <a:pPr marL="0" lvl="0" indent="0" defTabSz="914400" eaLnBrk="0" fontAlgn="base" hangingPunct="0">
              <a:lnSpc>
                <a:spcPct val="150000"/>
              </a:lnSpc>
              <a:spcBef>
                <a:spcPts val="600"/>
              </a:spcBef>
              <a:spcAft>
                <a:spcPts val="600"/>
              </a:spcAft>
              <a:buNone/>
            </a:pP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Xây</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dựng</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đầy</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đủ</a:t>
            </a:r>
            <a:r>
              <a:rPr lang="en-US" altLang="en-US" sz="2200" dirty="0">
                <a:solidFill>
                  <a:schemeClr val="tx1"/>
                </a:solidFill>
                <a:latin typeface="Arial" panose="020B0604020202020204" pitchFamily="34" charset="0"/>
              </a:rPr>
              <a:t> intents, entities, stories </a:t>
            </a:r>
            <a:r>
              <a:rPr lang="en-US" altLang="en-US" sz="2200" dirty="0" err="1">
                <a:solidFill>
                  <a:schemeClr val="tx1"/>
                </a:solidFill>
                <a:latin typeface="Arial" panose="020B0604020202020204" pitchFamily="34" charset="0"/>
              </a:rPr>
              <a:t>và</a:t>
            </a:r>
            <a:r>
              <a:rPr lang="en-US" altLang="en-US" sz="2200" dirty="0">
                <a:solidFill>
                  <a:schemeClr val="tx1"/>
                </a:solidFill>
                <a:latin typeface="Arial" panose="020B0604020202020204" pitchFamily="34" charset="0"/>
              </a:rPr>
              <a:t> rules</a:t>
            </a:r>
          </a:p>
          <a:p>
            <a:pPr marL="0" lvl="0" indent="0" defTabSz="914400" eaLnBrk="0" fontAlgn="base" hangingPunct="0">
              <a:lnSpc>
                <a:spcPct val="150000"/>
              </a:lnSpc>
              <a:spcBef>
                <a:spcPts val="600"/>
              </a:spcBef>
              <a:spcAft>
                <a:spcPts val="600"/>
              </a:spcAft>
              <a:buNone/>
            </a:pP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Huấn</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luyện</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thành</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công</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mô</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hình</a:t>
            </a:r>
            <a:r>
              <a:rPr lang="en-US" altLang="en-US" sz="2200" dirty="0">
                <a:solidFill>
                  <a:schemeClr val="tx1"/>
                </a:solidFill>
                <a:latin typeface="Arial" panose="020B0604020202020204" pitchFamily="34" charset="0"/>
              </a:rPr>
              <a:t> Rasa NLU </a:t>
            </a:r>
            <a:r>
              <a:rPr lang="en-US" altLang="en-US" sz="2200" dirty="0" err="1">
                <a:solidFill>
                  <a:schemeClr val="tx1"/>
                </a:solidFill>
                <a:latin typeface="Arial" panose="020B0604020202020204" pitchFamily="34" charset="0"/>
              </a:rPr>
              <a:t>và</a:t>
            </a:r>
            <a:r>
              <a:rPr lang="en-US" altLang="en-US" sz="2200" dirty="0">
                <a:solidFill>
                  <a:schemeClr val="tx1"/>
                </a:solidFill>
                <a:latin typeface="Arial" panose="020B0604020202020204" pitchFamily="34" charset="0"/>
              </a:rPr>
              <a:t> Rasa Core</a:t>
            </a:r>
            <a:endParaRPr lang="en-US" sz="2200" b="1" dirty="0">
              <a:solidFill>
                <a:schemeClr val="tx1"/>
              </a:solidFill>
            </a:endParaRPr>
          </a:p>
        </p:txBody>
      </p:sp>
      <p:sp>
        <p:nvSpPr>
          <p:cNvPr id="14" name="Rectangle 5">
            <a:extLst>
              <a:ext uri="{FF2B5EF4-FFF2-40B4-BE49-F238E27FC236}">
                <a16:creationId xmlns:a16="http://schemas.microsoft.com/office/drawing/2014/main" id="{1D88E2B6-529B-F366-E4E5-BC5E10142CCE}"/>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15" name="Picture 14" descr="A diagram of a computer component&#10;&#10;AI-generated content may be incorrect.">
            <a:extLst>
              <a:ext uri="{FF2B5EF4-FFF2-40B4-BE49-F238E27FC236}">
                <a16:creationId xmlns:a16="http://schemas.microsoft.com/office/drawing/2014/main" id="{A7AF2109-ED3D-AF22-A881-419D640C0A0E}"/>
              </a:ext>
            </a:extLst>
          </p:cNvPr>
          <p:cNvPicPr>
            <a:picLocks noChangeAspect="1"/>
          </p:cNvPicPr>
          <p:nvPr/>
        </p:nvPicPr>
        <p:blipFill>
          <a:blip r:embed="rId2"/>
          <a:stretch>
            <a:fillRect/>
          </a:stretch>
        </p:blipFill>
        <p:spPr>
          <a:xfrm>
            <a:off x="1510450" y="3527976"/>
            <a:ext cx="5446862" cy="333002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256AB-A8A5-8508-C7AC-011FA085CFAA}"/>
              </a:ext>
            </a:extLst>
          </p:cNvPr>
          <p:cNvSpPr>
            <a:spLocks noGrp="1"/>
          </p:cNvSpPr>
          <p:nvPr>
            <p:ph type="title"/>
          </p:nvPr>
        </p:nvSpPr>
        <p:spPr/>
        <p:txBody>
          <a:bodyPr/>
          <a:lstStyle/>
          <a:p>
            <a:pPr algn="l"/>
            <a:r>
              <a:rPr lang="vi-VN" b="1" dirty="0">
                <a:solidFill>
                  <a:srgbClr val="000000"/>
                </a:solidFill>
                <a:latin typeface="Tahoma Bold"/>
                <a:ea typeface="Tahoma Bold"/>
                <a:cs typeface="Tahoma Bold"/>
                <a:sym typeface="Tahoma Bold"/>
              </a:rPr>
              <a:t>III. Kết quả đạt được</a:t>
            </a:r>
            <a:endParaRPr lang="en-US" dirty="0"/>
          </a:p>
        </p:txBody>
      </p:sp>
      <p:sp>
        <p:nvSpPr>
          <p:cNvPr id="3" name="Content Placeholder 2">
            <a:extLst>
              <a:ext uri="{FF2B5EF4-FFF2-40B4-BE49-F238E27FC236}">
                <a16:creationId xmlns:a16="http://schemas.microsoft.com/office/drawing/2014/main" id="{3531D148-9680-1A4C-6326-2454C6102884}"/>
              </a:ext>
            </a:extLst>
          </p:cNvPr>
          <p:cNvSpPr>
            <a:spLocks noGrp="1"/>
          </p:cNvSpPr>
          <p:nvPr>
            <p:ph idx="1"/>
          </p:nvPr>
        </p:nvSpPr>
        <p:spPr>
          <a:xfrm>
            <a:off x="609598" y="1270000"/>
            <a:ext cx="6934202" cy="3880773"/>
          </a:xfrm>
        </p:spPr>
        <p:txBody>
          <a:bodyPr>
            <a:normAutofit/>
          </a:bodyPr>
          <a:lstStyle/>
          <a:p>
            <a:pPr marL="0" indent="0">
              <a:buNone/>
            </a:pPr>
            <a:r>
              <a:rPr lang="en-US" sz="2400" b="1" dirty="0">
                <a:solidFill>
                  <a:schemeClr val="tx1"/>
                </a:solidFill>
              </a:rPr>
              <a:t>3. </a:t>
            </a:r>
            <a:r>
              <a:rPr lang="en-US" sz="2400" b="1" dirty="0" err="1">
                <a:solidFill>
                  <a:schemeClr val="tx1"/>
                </a:solidFill>
              </a:rPr>
              <a:t>Kết</a:t>
            </a:r>
            <a:r>
              <a:rPr lang="en-US" sz="2400" b="1" dirty="0">
                <a:solidFill>
                  <a:schemeClr val="tx1"/>
                </a:solidFill>
              </a:rPr>
              <a:t> </a:t>
            </a:r>
            <a:r>
              <a:rPr lang="en-US" sz="2400" b="1" dirty="0" err="1">
                <a:solidFill>
                  <a:schemeClr val="tx1"/>
                </a:solidFill>
              </a:rPr>
              <a:t>quả</a:t>
            </a:r>
            <a:r>
              <a:rPr lang="en-US" sz="2400" b="1" dirty="0">
                <a:solidFill>
                  <a:schemeClr val="tx1"/>
                </a:solidFill>
              </a:rPr>
              <a:t> </a:t>
            </a:r>
            <a:r>
              <a:rPr lang="en-US" sz="2400" b="1" dirty="0" err="1">
                <a:solidFill>
                  <a:schemeClr val="tx1"/>
                </a:solidFill>
              </a:rPr>
              <a:t>về</a:t>
            </a:r>
            <a:r>
              <a:rPr lang="en-US" sz="2400" b="1" dirty="0">
                <a:solidFill>
                  <a:schemeClr val="tx1"/>
                </a:solidFill>
              </a:rPr>
              <a:t> </a:t>
            </a:r>
            <a:r>
              <a:rPr lang="en-US" sz="2400" b="1" dirty="0" err="1">
                <a:solidFill>
                  <a:schemeClr val="tx1"/>
                </a:solidFill>
              </a:rPr>
              <a:t>chức</a:t>
            </a:r>
            <a:r>
              <a:rPr lang="en-US" sz="2400" b="1" dirty="0">
                <a:solidFill>
                  <a:schemeClr val="tx1"/>
                </a:solidFill>
              </a:rPr>
              <a:t> </a:t>
            </a:r>
            <a:r>
              <a:rPr lang="en-US" sz="2400" b="1" dirty="0" err="1">
                <a:solidFill>
                  <a:schemeClr val="tx1"/>
                </a:solidFill>
              </a:rPr>
              <a:t>năng</a:t>
            </a:r>
            <a:endParaRPr lang="en-US" sz="2400" b="1" dirty="0">
              <a:solidFill>
                <a:schemeClr val="tx1"/>
              </a:solidFill>
            </a:endParaRPr>
          </a:p>
          <a:p>
            <a:pPr marL="0" lvl="0" indent="0" defTabSz="914400" eaLnBrk="0" fontAlgn="base" hangingPunct="0">
              <a:lnSpc>
                <a:spcPct val="150000"/>
              </a:lnSpc>
              <a:spcBef>
                <a:spcPts val="0"/>
              </a:spcBef>
              <a:spcAft>
                <a:spcPts val="600"/>
              </a:spcAft>
              <a:buNone/>
            </a:pP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Hỗ</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trợ</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tra</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cứu</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lịch</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học</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lịch</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thi</a:t>
            </a:r>
            <a:endParaRPr lang="en-US" altLang="en-US" sz="2200" dirty="0">
              <a:solidFill>
                <a:schemeClr val="tx1"/>
              </a:solidFill>
              <a:latin typeface="Arial" panose="020B0604020202020204" pitchFamily="34" charset="0"/>
            </a:endParaRPr>
          </a:p>
          <a:p>
            <a:pPr marL="0" lvl="0" indent="0" defTabSz="914400" eaLnBrk="0" fontAlgn="base" hangingPunct="0">
              <a:lnSpc>
                <a:spcPct val="150000"/>
              </a:lnSpc>
              <a:spcBef>
                <a:spcPts val="0"/>
              </a:spcBef>
              <a:spcAft>
                <a:spcPts val="600"/>
              </a:spcAft>
              <a:buNone/>
            </a:pP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Tư</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vấn</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học</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phí</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theo</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ngành</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học</a:t>
            </a:r>
            <a:endParaRPr lang="en-US" altLang="en-US" sz="2200" dirty="0">
              <a:solidFill>
                <a:schemeClr val="tx1"/>
              </a:solidFill>
              <a:latin typeface="Arial" panose="020B0604020202020204" pitchFamily="34" charset="0"/>
            </a:endParaRPr>
          </a:p>
          <a:p>
            <a:pPr marL="0" lvl="0" indent="0" defTabSz="914400" eaLnBrk="0" fontAlgn="base" hangingPunct="0">
              <a:lnSpc>
                <a:spcPct val="150000"/>
              </a:lnSpc>
              <a:spcBef>
                <a:spcPts val="0"/>
              </a:spcBef>
              <a:spcAft>
                <a:spcPts val="600"/>
              </a:spcAft>
              <a:buNone/>
            </a:pP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Hướng</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dẫn</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thủ</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tục</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học</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vụ</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và</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tra</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cứu</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điểm</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rèn</a:t>
            </a:r>
            <a:r>
              <a:rPr lang="en-US" altLang="en-US" sz="2200" dirty="0">
                <a:solidFill>
                  <a:schemeClr val="tx1"/>
                </a:solidFill>
                <a:latin typeface="Arial" panose="020B0604020202020204" pitchFamily="34" charset="0"/>
              </a:rPr>
              <a:t> </a:t>
            </a:r>
            <a:r>
              <a:rPr lang="en-US" altLang="en-US" sz="2200" dirty="0" err="1">
                <a:solidFill>
                  <a:schemeClr val="tx1"/>
                </a:solidFill>
                <a:latin typeface="Arial" panose="020B0604020202020204" pitchFamily="34" charset="0"/>
              </a:rPr>
              <a:t>luyện</a:t>
            </a:r>
            <a:endParaRPr lang="en-US" altLang="en-US" sz="2200" dirty="0">
              <a:solidFill>
                <a:schemeClr val="tx1"/>
              </a:solidFill>
              <a:latin typeface="Arial" panose="020B0604020202020204" pitchFamily="34" charset="0"/>
            </a:endParaRPr>
          </a:p>
          <a:p>
            <a:pPr marL="0" indent="0">
              <a:buNone/>
            </a:pPr>
            <a:endParaRPr lang="en-US" sz="2400" b="1" dirty="0">
              <a:solidFill>
                <a:schemeClr val="tx1"/>
              </a:solidFill>
            </a:endParaRPr>
          </a:p>
        </p:txBody>
      </p:sp>
      <p:sp>
        <p:nvSpPr>
          <p:cNvPr id="4" name="Rectangle 1">
            <a:extLst>
              <a:ext uri="{FF2B5EF4-FFF2-40B4-BE49-F238E27FC236}">
                <a16:creationId xmlns:a16="http://schemas.microsoft.com/office/drawing/2014/main" id="{81CB1EB0-6F12-D1C6-B729-FC407BDABB47}"/>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5" name="Picture 4">
            <a:extLst>
              <a:ext uri="{FF2B5EF4-FFF2-40B4-BE49-F238E27FC236}">
                <a16:creationId xmlns:a16="http://schemas.microsoft.com/office/drawing/2014/main" id="{197E7F48-B261-9CA2-D109-ABC9BA6CAB06}"/>
              </a:ext>
            </a:extLst>
          </p:cNvPr>
          <p:cNvPicPr>
            <a:picLocks noChangeAspect="1"/>
          </p:cNvPicPr>
          <p:nvPr/>
        </p:nvPicPr>
        <p:blipFill>
          <a:blip r:embed="rId2"/>
          <a:stretch>
            <a:fillRect/>
          </a:stretch>
        </p:blipFill>
        <p:spPr>
          <a:xfrm>
            <a:off x="4463845" y="3881284"/>
            <a:ext cx="4129805" cy="2753032"/>
          </a:xfrm>
          <a:prstGeom prst="rect">
            <a:avLst/>
          </a:prstGeom>
        </p:spPr>
      </p:pic>
      <p:pic>
        <p:nvPicPr>
          <p:cNvPr id="6" name="Picture 5" descr="A screenshot of a computer&#10;&#10;AI-generated content may be incorrect.">
            <a:extLst>
              <a:ext uri="{FF2B5EF4-FFF2-40B4-BE49-F238E27FC236}">
                <a16:creationId xmlns:a16="http://schemas.microsoft.com/office/drawing/2014/main" id="{B7065059-C62F-E130-636D-3D9C9953B1EE}"/>
              </a:ext>
            </a:extLst>
          </p:cNvPr>
          <p:cNvPicPr>
            <a:picLocks noChangeAspect="1"/>
          </p:cNvPicPr>
          <p:nvPr/>
        </p:nvPicPr>
        <p:blipFill>
          <a:blip r:embed="rId3"/>
          <a:stretch>
            <a:fillRect/>
          </a:stretch>
        </p:blipFill>
        <p:spPr>
          <a:xfrm>
            <a:off x="334226" y="3881284"/>
            <a:ext cx="4036469" cy="2753032"/>
          </a:xfrm>
          <a:prstGeom prst="rect">
            <a:avLst/>
          </a:prstGeom>
        </p:spPr>
      </p:pic>
    </p:spTree>
    <p:extLst>
      <p:ext uri="{BB962C8B-B14F-4D97-AF65-F5344CB8AC3E}">
        <p14:creationId xmlns:p14="http://schemas.microsoft.com/office/powerpoint/2010/main" val="34938423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E371ED-ECA2-BC06-ADA0-71BC9FE19BB4}"/>
              </a:ext>
            </a:extLst>
          </p:cNvPr>
          <p:cNvSpPr>
            <a:spLocks noGrp="1"/>
          </p:cNvSpPr>
          <p:nvPr>
            <p:ph type="title"/>
          </p:nvPr>
        </p:nvSpPr>
        <p:spPr/>
        <p:txBody>
          <a:bodyPr/>
          <a:lstStyle/>
          <a:p>
            <a:pPr algn="l"/>
            <a:r>
              <a:rPr lang="vi-VN" b="1" dirty="0">
                <a:solidFill>
                  <a:srgbClr val="000000"/>
                </a:solidFill>
                <a:latin typeface="Tahoma Bold"/>
                <a:ea typeface="Tahoma Bold"/>
                <a:cs typeface="Tahoma Bold"/>
                <a:sym typeface="Tahoma Bold"/>
              </a:rPr>
              <a:t>III. Kết quả đạt được</a:t>
            </a:r>
            <a:endParaRPr lang="en-US" dirty="0"/>
          </a:p>
        </p:txBody>
      </p:sp>
      <p:sp>
        <p:nvSpPr>
          <p:cNvPr id="3" name="Content Placeholder 2">
            <a:extLst>
              <a:ext uri="{FF2B5EF4-FFF2-40B4-BE49-F238E27FC236}">
                <a16:creationId xmlns:a16="http://schemas.microsoft.com/office/drawing/2014/main" id="{93DBCC14-0E3A-2537-823E-FE1D32D55595}"/>
              </a:ext>
            </a:extLst>
          </p:cNvPr>
          <p:cNvSpPr>
            <a:spLocks noGrp="1"/>
          </p:cNvSpPr>
          <p:nvPr>
            <p:ph idx="1"/>
          </p:nvPr>
        </p:nvSpPr>
        <p:spPr>
          <a:xfrm>
            <a:off x="457200" y="1600200"/>
            <a:ext cx="3682181" cy="4525963"/>
          </a:xfrm>
        </p:spPr>
        <p:txBody>
          <a:bodyPr/>
          <a:lstStyle/>
          <a:p>
            <a:pPr marL="0" indent="0">
              <a:buNone/>
            </a:pPr>
            <a:r>
              <a:rPr lang="en-US" sz="2400" b="1" dirty="0">
                <a:solidFill>
                  <a:schemeClr val="tx1"/>
                </a:solidFill>
              </a:rPr>
              <a:t>4. </a:t>
            </a:r>
            <a:r>
              <a:rPr lang="vi-VN" sz="2400" b="1" dirty="0">
                <a:solidFill>
                  <a:schemeClr val="tx1"/>
                </a:solidFill>
              </a:rPr>
              <a:t>Kết quả về hiệu quả sử dụng</a:t>
            </a:r>
          </a:p>
          <a:p>
            <a:pPr marL="0" indent="0">
              <a:buNone/>
            </a:pPr>
            <a:r>
              <a:rPr lang="en-US" sz="2400" dirty="0">
                <a:solidFill>
                  <a:schemeClr val="tx1"/>
                </a:solidFill>
              </a:rPr>
              <a:t>- </a:t>
            </a:r>
            <a:r>
              <a:rPr lang="vi-VN" sz="2400" dirty="0">
                <a:solidFill>
                  <a:schemeClr val="tx1"/>
                </a:solidFill>
              </a:rPr>
              <a:t>Phản hồi nhanh, chính xác các câu hỏi học vụ phổ biến</a:t>
            </a:r>
          </a:p>
          <a:p>
            <a:pPr marL="0" indent="0">
              <a:buNone/>
            </a:pPr>
            <a:r>
              <a:rPr lang="en-US" sz="2400" dirty="0">
                <a:solidFill>
                  <a:schemeClr val="tx1"/>
                </a:solidFill>
              </a:rPr>
              <a:t>- </a:t>
            </a:r>
            <a:r>
              <a:rPr lang="vi-VN" sz="2400" dirty="0">
                <a:solidFill>
                  <a:schemeClr val="tx1"/>
                </a:solidFill>
              </a:rPr>
              <a:t>Giảm tải công việc tư vấn thủ công cho cán bộ học vụ</a:t>
            </a:r>
          </a:p>
          <a:p>
            <a:pPr marL="0" indent="0">
              <a:buNone/>
            </a:pPr>
            <a:r>
              <a:rPr lang="en-US" sz="2400" dirty="0">
                <a:solidFill>
                  <a:schemeClr val="tx1"/>
                </a:solidFill>
              </a:rPr>
              <a:t>- </a:t>
            </a:r>
            <a:r>
              <a:rPr lang="vi-VN" sz="2400" dirty="0">
                <a:solidFill>
                  <a:schemeClr val="tx1"/>
                </a:solidFill>
              </a:rPr>
              <a:t>Nâng cao trải nghiệm và sự hài lòng của sinh viên</a:t>
            </a:r>
          </a:p>
          <a:p>
            <a:pPr marL="0" indent="0">
              <a:buNone/>
            </a:pPr>
            <a:endParaRPr lang="en-US" dirty="0">
              <a:solidFill>
                <a:schemeClr val="tx1"/>
              </a:solidFill>
            </a:endParaRPr>
          </a:p>
        </p:txBody>
      </p:sp>
      <p:pic>
        <p:nvPicPr>
          <p:cNvPr id="4" name="Picture 3" descr="A screenshot of a computer&#10;&#10;AI-generated content may be incorrect.">
            <a:extLst>
              <a:ext uri="{FF2B5EF4-FFF2-40B4-BE49-F238E27FC236}">
                <a16:creationId xmlns:a16="http://schemas.microsoft.com/office/drawing/2014/main" id="{1E5E4518-2CCB-4D6B-1AB3-0B6B1785A16E}"/>
              </a:ext>
            </a:extLst>
          </p:cNvPr>
          <p:cNvPicPr>
            <a:picLocks noChangeAspect="1"/>
          </p:cNvPicPr>
          <p:nvPr/>
        </p:nvPicPr>
        <p:blipFill>
          <a:blip r:embed="rId3"/>
          <a:stretch>
            <a:fillRect/>
          </a:stretch>
        </p:blipFill>
        <p:spPr>
          <a:xfrm>
            <a:off x="3972231" y="1326357"/>
            <a:ext cx="4933623" cy="2691765"/>
          </a:xfrm>
          <a:prstGeom prst="rect">
            <a:avLst/>
          </a:prstGeom>
        </p:spPr>
      </p:pic>
      <p:pic>
        <p:nvPicPr>
          <p:cNvPr id="6" name="Picture 5">
            <a:extLst>
              <a:ext uri="{FF2B5EF4-FFF2-40B4-BE49-F238E27FC236}">
                <a16:creationId xmlns:a16="http://schemas.microsoft.com/office/drawing/2014/main" id="{39090962-D48C-3967-EDC3-296B3B4F8856}"/>
              </a:ext>
            </a:extLst>
          </p:cNvPr>
          <p:cNvPicPr>
            <a:picLocks noChangeAspect="1"/>
          </p:cNvPicPr>
          <p:nvPr/>
        </p:nvPicPr>
        <p:blipFill>
          <a:blip r:embed="rId4"/>
          <a:stretch>
            <a:fillRect/>
          </a:stretch>
        </p:blipFill>
        <p:spPr>
          <a:xfrm>
            <a:off x="3972231" y="4109403"/>
            <a:ext cx="4793512" cy="2676525"/>
          </a:xfrm>
          <a:prstGeom prst="rect">
            <a:avLst/>
          </a:prstGeom>
        </p:spPr>
      </p:pic>
    </p:spTree>
    <p:extLst>
      <p:ext uri="{BB962C8B-B14F-4D97-AF65-F5344CB8AC3E}">
        <p14:creationId xmlns:p14="http://schemas.microsoft.com/office/powerpoint/2010/main" val="5848593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342C9-E7DD-7B75-300A-8A8C89FC6D6C}"/>
              </a:ext>
            </a:extLst>
          </p:cNvPr>
          <p:cNvSpPr>
            <a:spLocks noGrp="1"/>
          </p:cNvSpPr>
          <p:nvPr>
            <p:ph type="title"/>
          </p:nvPr>
        </p:nvSpPr>
        <p:spPr>
          <a:xfrm>
            <a:off x="358878" y="717090"/>
            <a:ext cx="8229600" cy="1143000"/>
          </a:xfrm>
        </p:spPr>
        <p:txBody>
          <a:bodyPr>
            <a:normAutofit/>
          </a:bodyPr>
          <a:lstStyle/>
          <a:p>
            <a:pPr algn="l"/>
            <a:r>
              <a:rPr lang="vi-VN" b="1" dirty="0">
                <a:solidFill>
                  <a:srgbClr val="000000"/>
                </a:solidFill>
                <a:latin typeface="Tahoma Bold"/>
                <a:ea typeface="Tahoma Bold"/>
                <a:cs typeface="Tahoma Bold"/>
                <a:sym typeface="Tahoma Bold"/>
              </a:rPr>
              <a:t>IV. HƯỚNG PHÁT TRIỂN</a:t>
            </a:r>
            <a:endParaRPr lang="en-US" dirty="0"/>
          </a:p>
        </p:txBody>
      </p:sp>
      <p:sp>
        <p:nvSpPr>
          <p:cNvPr id="5" name="Rectangle 2">
            <a:extLst>
              <a:ext uri="{FF2B5EF4-FFF2-40B4-BE49-F238E27FC236}">
                <a16:creationId xmlns:a16="http://schemas.microsoft.com/office/drawing/2014/main" id="{F11EA50A-B775-3F71-FDF5-7AFD70B6A42B}"/>
              </a:ext>
            </a:extLst>
          </p:cNvPr>
          <p:cNvSpPr>
            <a:spLocks noGrp="1" noChangeArrowheads="1"/>
          </p:cNvSpPr>
          <p:nvPr>
            <p:ph idx="1"/>
          </p:nvPr>
        </p:nvSpPr>
        <p:spPr bwMode="auto">
          <a:xfrm>
            <a:off x="351503" y="1414623"/>
            <a:ext cx="8440994" cy="455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ts val="600"/>
              </a:spcBef>
              <a:spcAft>
                <a:spcPts val="600"/>
              </a:spcAft>
              <a:buClrTx/>
              <a:buSzTx/>
              <a:buNone/>
              <a:tabLst/>
            </a:pPr>
            <a:r>
              <a:rPr kumimoji="0" lang="en-US" altLang="en-US" sz="2200" b="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Tích</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hợp</a:t>
            </a:r>
            <a:r>
              <a:rPr kumimoji="0" lang="en-US" altLang="en-US" sz="2200" i="0" u="none" strike="noStrike" cap="none" normalizeH="0" baseline="0" dirty="0">
                <a:ln>
                  <a:noFill/>
                </a:ln>
                <a:solidFill>
                  <a:schemeClr val="tx1"/>
                </a:solidFill>
                <a:effectLst/>
                <a:latin typeface="Arial" panose="020B0604020202020204" pitchFamily="34" charset="0"/>
              </a:rPr>
              <a:t> chatbot </a:t>
            </a:r>
            <a:r>
              <a:rPr kumimoji="0" lang="en-US" altLang="en-US" sz="2200" i="0" u="none" strike="noStrike" cap="none" normalizeH="0" baseline="0" dirty="0" err="1">
                <a:ln>
                  <a:noFill/>
                </a:ln>
                <a:solidFill>
                  <a:schemeClr val="tx1"/>
                </a:solidFill>
                <a:effectLst/>
                <a:latin typeface="Arial" panose="020B0604020202020204" pitchFamily="34" charset="0"/>
              </a:rPr>
              <a:t>với</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cơ</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sở</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dữ</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liệu</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và</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hệ</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thống</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quản</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lý</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đào</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tạo</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để</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cung</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cấp</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thông</a:t>
            </a:r>
            <a:r>
              <a:rPr kumimoji="0" lang="en-US" altLang="en-US" sz="2200" i="0" u="none" strike="noStrike" cap="none" normalizeH="0" baseline="0" dirty="0">
                <a:ln>
                  <a:noFill/>
                </a:ln>
                <a:solidFill>
                  <a:schemeClr val="tx1"/>
                </a:solidFill>
                <a:effectLst/>
                <a:latin typeface="Arial" panose="020B0604020202020204" pitchFamily="34" charset="0"/>
              </a:rPr>
              <a:t> tin </a:t>
            </a:r>
            <a:r>
              <a:rPr kumimoji="0" lang="en-US" altLang="en-US" sz="2200" i="0" u="none" strike="noStrike" cap="none" normalizeH="0" baseline="0" dirty="0" err="1">
                <a:ln>
                  <a:noFill/>
                </a:ln>
                <a:solidFill>
                  <a:schemeClr val="tx1"/>
                </a:solidFill>
                <a:effectLst/>
                <a:latin typeface="Arial" panose="020B0604020202020204" pitchFamily="34" charset="0"/>
              </a:rPr>
              <a:t>theo</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thời</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gian</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thực</a:t>
            </a:r>
            <a:r>
              <a:rPr kumimoji="0" lang="en-US" altLang="en-US" sz="220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50000"/>
              </a:lnSpc>
              <a:spcBef>
                <a:spcPts val="600"/>
              </a:spcBef>
              <a:spcAft>
                <a:spcPts val="600"/>
              </a:spcAft>
              <a:buClrTx/>
              <a:buSzTx/>
              <a:buNone/>
              <a:tabLst/>
            </a:pP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Mở</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rộng</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phạm</a:t>
            </a:r>
            <a:r>
              <a:rPr kumimoji="0" lang="en-US" altLang="en-US" sz="2200" i="0" u="none" strike="noStrike" cap="none" normalizeH="0" baseline="0" dirty="0">
                <a:ln>
                  <a:noFill/>
                </a:ln>
                <a:solidFill>
                  <a:schemeClr val="tx1"/>
                </a:solidFill>
                <a:effectLst/>
                <a:latin typeface="Arial" panose="020B0604020202020204" pitchFamily="34" charset="0"/>
              </a:rPr>
              <a:t> vi </a:t>
            </a:r>
            <a:r>
              <a:rPr kumimoji="0" lang="en-US" altLang="en-US" sz="2200" i="0" u="none" strike="noStrike" cap="none" normalizeH="0" baseline="0" dirty="0" err="1">
                <a:ln>
                  <a:noFill/>
                </a:ln>
                <a:solidFill>
                  <a:schemeClr val="tx1"/>
                </a:solidFill>
                <a:effectLst/>
                <a:latin typeface="Arial" panose="020B0604020202020204" pitchFamily="34" charset="0"/>
              </a:rPr>
              <a:t>tư</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vấn</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học</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vụ</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bổ</a:t>
            </a:r>
            <a:r>
              <a:rPr kumimoji="0" lang="en-US" altLang="en-US" sz="2200" i="0" u="none" strike="noStrike" cap="none" normalizeH="0" baseline="0" dirty="0">
                <a:ln>
                  <a:noFill/>
                </a:ln>
                <a:solidFill>
                  <a:schemeClr val="tx1"/>
                </a:solidFill>
                <a:effectLst/>
                <a:latin typeface="Arial" panose="020B0604020202020204" pitchFamily="34" charset="0"/>
              </a:rPr>
              <a:t> sung </a:t>
            </a:r>
            <a:r>
              <a:rPr kumimoji="0" lang="en-US" altLang="en-US" sz="2200" i="0" u="none" strike="noStrike" cap="none" normalizeH="0" baseline="0" dirty="0" err="1">
                <a:ln>
                  <a:noFill/>
                </a:ln>
                <a:solidFill>
                  <a:schemeClr val="tx1"/>
                </a:solidFill>
                <a:effectLst/>
                <a:latin typeface="Arial" panose="020B0604020202020204" pitchFamily="34" charset="0"/>
              </a:rPr>
              <a:t>thêm</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các</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chức</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năng</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nâng</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cao</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như</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đăng</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ký</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học</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phần</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tra</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cứu</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kết</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quả</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học</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tập</a:t>
            </a:r>
            <a:r>
              <a:rPr kumimoji="0" lang="en-US" altLang="en-US" sz="220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50000"/>
              </a:lnSpc>
              <a:spcBef>
                <a:spcPts val="600"/>
              </a:spcBef>
              <a:spcAft>
                <a:spcPts val="600"/>
              </a:spcAft>
              <a:buClrTx/>
              <a:buSzTx/>
              <a:buNone/>
              <a:tabLst/>
            </a:pP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Nâng</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cao</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khả</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năng</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xử</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lý</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ngôn</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ngữ</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tự</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nhiên</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tiếng</a:t>
            </a:r>
            <a:r>
              <a:rPr kumimoji="0" lang="en-US" altLang="en-US" sz="2200" i="0" u="none" strike="noStrike" cap="none" normalizeH="0" baseline="0" dirty="0">
                <a:ln>
                  <a:noFill/>
                </a:ln>
                <a:solidFill>
                  <a:schemeClr val="tx1"/>
                </a:solidFill>
                <a:effectLst/>
                <a:latin typeface="Arial" panose="020B0604020202020204" pitchFamily="34" charset="0"/>
              </a:rPr>
              <a:t> Việt </a:t>
            </a:r>
            <a:r>
              <a:rPr kumimoji="0" lang="en-US" altLang="en-US" sz="2200" i="0" u="none" strike="noStrike" cap="none" normalizeH="0" baseline="0" dirty="0" err="1">
                <a:ln>
                  <a:noFill/>
                </a:ln>
                <a:solidFill>
                  <a:schemeClr val="tx1"/>
                </a:solidFill>
                <a:effectLst/>
                <a:latin typeface="Arial" panose="020B0604020202020204" pitchFamily="34" charset="0"/>
              </a:rPr>
              <a:t>nhằm</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tăng</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độ</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chính</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xác</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và</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tính</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linh</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hoạt</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của</a:t>
            </a:r>
            <a:r>
              <a:rPr kumimoji="0" lang="en-US" altLang="en-US" sz="2200" i="0" u="none" strike="noStrike" cap="none" normalizeH="0" baseline="0" dirty="0">
                <a:ln>
                  <a:noFill/>
                </a:ln>
                <a:solidFill>
                  <a:schemeClr val="tx1"/>
                </a:solidFill>
                <a:effectLst/>
                <a:latin typeface="Arial" panose="020B0604020202020204" pitchFamily="34" charset="0"/>
              </a:rPr>
              <a:t> chatbot.</a:t>
            </a:r>
          </a:p>
          <a:p>
            <a:pPr marL="0" marR="0" lvl="0" indent="0" algn="l" defTabSz="914400" rtl="0" eaLnBrk="0" fontAlgn="base" latinLnBrk="0" hangingPunct="0">
              <a:lnSpc>
                <a:spcPct val="150000"/>
              </a:lnSpc>
              <a:spcBef>
                <a:spcPts val="600"/>
              </a:spcBef>
              <a:spcAft>
                <a:spcPts val="600"/>
              </a:spcAft>
              <a:buClrTx/>
              <a:buSzTx/>
              <a:buNone/>
              <a:tabLst/>
            </a:pP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Triển</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khai</a:t>
            </a:r>
            <a:r>
              <a:rPr kumimoji="0" lang="en-US" altLang="en-US" sz="2200" i="0" u="none" strike="noStrike" cap="none" normalizeH="0" baseline="0" dirty="0">
                <a:ln>
                  <a:noFill/>
                </a:ln>
                <a:solidFill>
                  <a:schemeClr val="tx1"/>
                </a:solidFill>
                <a:effectLst/>
                <a:latin typeface="Arial" panose="020B0604020202020204" pitchFamily="34" charset="0"/>
              </a:rPr>
              <a:t> chatbot </a:t>
            </a:r>
            <a:r>
              <a:rPr kumimoji="0" lang="en-US" altLang="en-US" sz="2200" i="0" u="none" strike="noStrike" cap="none" normalizeH="0" baseline="0" dirty="0" err="1">
                <a:ln>
                  <a:noFill/>
                </a:ln>
                <a:solidFill>
                  <a:schemeClr val="tx1"/>
                </a:solidFill>
                <a:effectLst/>
                <a:latin typeface="Arial" panose="020B0604020202020204" pitchFamily="34" charset="0"/>
              </a:rPr>
              <a:t>trên</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nhiều</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nền</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tảng</a:t>
            </a:r>
            <a:r>
              <a:rPr kumimoji="0" lang="en-US" altLang="en-US" sz="2200" i="0" u="none" strike="noStrike" cap="none" normalizeH="0" baseline="0" dirty="0">
                <a:ln>
                  <a:noFill/>
                </a:ln>
                <a:solidFill>
                  <a:schemeClr val="tx1"/>
                </a:solidFill>
                <a:effectLst/>
                <a:latin typeface="Arial" panose="020B0604020202020204" pitchFamily="34" charset="0"/>
              </a:rPr>
              <a:t> (website, </a:t>
            </a:r>
            <a:r>
              <a:rPr kumimoji="0" lang="en-US" altLang="en-US" sz="2200" i="0" u="none" strike="noStrike" cap="none" normalizeH="0" baseline="0" dirty="0" err="1">
                <a:ln>
                  <a:noFill/>
                </a:ln>
                <a:solidFill>
                  <a:schemeClr val="tx1"/>
                </a:solidFill>
                <a:effectLst/>
                <a:latin typeface="Arial" panose="020B0604020202020204" pitchFamily="34" charset="0"/>
              </a:rPr>
              <a:t>mạng</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xã</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hội</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ứng</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dụng</a:t>
            </a:r>
            <a:r>
              <a:rPr kumimoji="0" lang="en-US" altLang="en-US" sz="2200" i="0" u="none" strike="noStrike" cap="none" normalizeH="0" baseline="0" dirty="0">
                <a:ln>
                  <a:noFill/>
                </a:ln>
                <a:solidFill>
                  <a:schemeClr val="tx1"/>
                </a:solidFill>
                <a:effectLst/>
                <a:latin typeface="Arial" panose="020B0604020202020204" pitchFamily="34" charset="0"/>
              </a:rPr>
              <a:t> di </a:t>
            </a:r>
            <a:r>
              <a:rPr kumimoji="0" lang="en-US" altLang="en-US" sz="2200" i="0" u="none" strike="noStrike" cap="none" normalizeH="0" baseline="0" dirty="0" err="1">
                <a:ln>
                  <a:noFill/>
                </a:ln>
                <a:solidFill>
                  <a:schemeClr val="tx1"/>
                </a:solidFill>
                <a:effectLst/>
                <a:latin typeface="Arial" panose="020B0604020202020204" pitchFamily="34" charset="0"/>
              </a:rPr>
              <a:t>động</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để</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tăng</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khả</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năng</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tiếp</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cận</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sinh</a:t>
            </a:r>
            <a:r>
              <a:rPr kumimoji="0" lang="en-US" altLang="en-US" sz="2200" i="0" u="none" strike="noStrike" cap="none" normalizeH="0" baseline="0" dirty="0">
                <a:ln>
                  <a:noFill/>
                </a:ln>
                <a:solidFill>
                  <a:schemeClr val="tx1"/>
                </a:solidFill>
                <a:effectLst/>
                <a:latin typeface="Arial" panose="020B0604020202020204" pitchFamily="34" charset="0"/>
              </a:rPr>
              <a:t> </a:t>
            </a:r>
            <a:r>
              <a:rPr kumimoji="0" lang="en-US" altLang="en-US" sz="2200" i="0" u="none" strike="noStrike" cap="none" normalizeH="0" baseline="0" dirty="0" err="1">
                <a:ln>
                  <a:noFill/>
                </a:ln>
                <a:solidFill>
                  <a:schemeClr val="tx1"/>
                </a:solidFill>
                <a:effectLst/>
                <a:latin typeface="Arial" panose="020B0604020202020204" pitchFamily="34" charset="0"/>
              </a:rPr>
              <a:t>viên</a:t>
            </a:r>
            <a:r>
              <a:rPr kumimoji="0" lang="en-US" altLang="en-US" sz="2200" i="0" u="none" strike="noStrike" cap="none" normalizeH="0" baseline="0" dirty="0">
                <a:ln>
                  <a:noFill/>
                </a:ln>
                <a:solidFill>
                  <a:schemeClr val="tx1"/>
                </a:solidFill>
                <a:effectLst/>
                <a:latin typeface="Arial" panose="020B0604020202020204" pitchFamily="34" charset="0"/>
              </a:rPr>
              <a:t>.</a:t>
            </a:r>
          </a:p>
        </p:txBody>
      </p:sp>
    </p:spTree>
    <p:extLst>
      <p:ext uri="{BB962C8B-B14F-4D97-AF65-F5344CB8AC3E}">
        <p14:creationId xmlns:p14="http://schemas.microsoft.com/office/powerpoint/2010/main" val="19831305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lnSpc>
                <a:spcPts val="3831"/>
              </a:lnSpc>
            </a:pPr>
            <a:r>
              <a:rPr lang="vi-VN" b="1" dirty="0">
                <a:solidFill>
                  <a:srgbClr val="000000"/>
                </a:solidFill>
                <a:latin typeface="Tahoma Bold"/>
                <a:ea typeface="Tahoma Bold"/>
                <a:cs typeface="Tahoma Bold"/>
                <a:sym typeface="Tahoma Bold"/>
              </a:rPr>
              <a:t>V. </a:t>
            </a:r>
            <a:r>
              <a:rPr lang="en-US" b="1" dirty="0" err="1">
                <a:solidFill>
                  <a:srgbClr val="000000"/>
                </a:solidFill>
                <a:latin typeface="Tahoma Bold"/>
                <a:ea typeface="Tahoma Bold"/>
                <a:cs typeface="Tahoma Bold"/>
                <a:sym typeface="Tahoma Bold"/>
              </a:rPr>
              <a:t>Ưu</a:t>
            </a:r>
            <a:r>
              <a:rPr lang="en-US" b="1" dirty="0">
                <a:solidFill>
                  <a:srgbClr val="000000"/>
                </a:solidFill>
                <a:latin typeface="Tahoma Bold"/>
                <a:ea typeface="Tahoma Bold"/>
                <a:cs typeface="Tahoma Bold"/>
                <a:sym typeface="Tahoma Bold"/>
              </a:rPr>
              <a:t> </a:t>
            </a:r>
            <a:r>
              <a:rPr lang="en-US" b="1" dirty="0" err="1">
                <a:solidFill>
                  <a:srgbClr val="000000"/>
                </a:solidFill>
                <a:latin typeface="Tahoma Bold"/>
                <a:ea typeface="Tahoma Bold"/>
                <a:cs typeface="Tahoma Bold"/>
                <a:sym typeface="Tahoma Bold"/>
              </a:rPr>
              <a:t>điểm</a:t>
            </a:r>
            <a:r>
              <a:rPr lang="en-US" b="1" dirty="0">
                <a:solidFill>
                  <a:srgbClr val="000000"/>
                </a:solidFill>
                <a:latin typeface="Tahoma Bold"/>
                <a:ea typeface="Tahoma Bold"/>
                <a:cs typeface="Tahoma Bold"/>
                <a:sym typeface="Tahoma Bold"/>
              </a:rPr>
              <a:t> </a:t>
            </a:r>
            <a:r>
              <a:rPr lang="en-US" b="1" dirty="0" err="1">
                <a:solidFill>
                  <a:srgbClr val="000000"/>
                </a:solidFill>
                <a:latin typeface="Tahoma Bold"/>
                <a:ea typeface="Tahoma Bold"/>
                <a:cs typeface="Tahoma Bold"/>
                <a:sym typeface="Tahoma Bold"/>
              </a:rPr>
              <a:t>và</a:t>
            </a:r>
            <a:r>
              <a:rPr lang="en-US" b="1" dirty="0">
                <a:solidFill>
                  <a:srgbClr val="000000"/>
                </a:solidFill>
                <a:latin typeface="Tahoma Bold"/>
                <a:ea typeface="Tahoma Bold"/>
                <a:cs typeface="Tahoma Bold"/>
                <a:sym typeface="Tahoma Bold"/>
              </a:rPr>
              <a:t> </a:t>
            </a:r>
            <a:r>
              <a:rPr lang="en-US" b="1" dirty="0" err="1">
                <a:solidFill>
                  <a:srgbClr val="000000"/>
                </a:solidFill>
                <a:latin typeface="Tahoma Bold"/>
                <a:ea typeface="Tahoma Bold"/>
                <a:cs typeface="Tahoma Bold"/>
                <a:sym typeface="Tahoma Bold"/>
              </a:rPr>
              <a:t>nhược</a:t>
            </a:r>
            <a:r>
              <a:rPr lang="en-US" b="1" dirty="0">
                <a:solidFill>
                  <a:srgbClr val="000000"/>
                </a:solidFill>
                <a:latin typeface="Tahoma Bold"/>
                <a:ea typeface="Tahoma Bold"/>
                <a:cs typeface="Tahoma Bold"/>
                <a:sym typeface="Tahoma Bold"/>
              </a:rPr>
              <a:t> </a:t>
            </a:r>
            <a:r>
              <a:rPr lang="en-US" b="1" dirty="0" err="1">
                <a:solidFill>
                  <a:srgbClr val="000000"/>
                </a:solidFill>
                <a:latin typeface="Tahoma Bold"/>
                <a:ea typeface="Tahoma Bold"/>
                <a:cs typeface="Tahoma Bold"/>
                <a:sym typeface="Tahoma Bold"/>
              </a:rPr>
              <a:t>điểm</a:t>
            </a:r>
            <a:endParaRPr lang="vi-VN" b="1" dirty="0">
              <a:solidFill>
                <a:srgbClr val="000000"/>
              </a:solidFill>
              <a:latin typeface="Tahoma Bold"/>
              <a:ea typeface="Tahoma Bold"/>
              <a:cs typeface="Tahoma Bold"/>
              <a:sym typeface="Tahoma Bold"/>
            </a:endParaRPr>
          </a:p>
        </p:txBody>
      </p:sp>
      <p:sp>
        <p:nvSpPr>
          <p:cNvPr id="3" name="Content Placeholder 2"/>
          <p:cNvSpPr>
            <a:spLocks noGrp="1"/>
          </p:cNvSpPr>
          <p:nvPr>
            <p:ph idx="1"/>
          </p:nvPr>
        </p:nvSpPr>
        <p:spPr>
          <a:xfrm>
            <a:off x="266700" y="1488613"/>
            <a:ext cx="8877300" cy="3880773"/>
          </a:xfrm>
        </p:spPr>
        <p:txBody>
          <a:bodyPr>
            <a:noAutofit/>
          </a:bodyPr>
          <a:lstStyle/>
          <a:p>
            <a:pPr marL="0" indent="0">
              <a:lnSpc>
                <a:spcPct val="160000"/>
              </a:lnSpc>
              <a:spcBef>
                <a:spcPts val="600"/>
              </a:spcBef>
              <a:spcAft>
                <a:spcPts val="600"/>
              </a:spcAft>
              <a:buNone/>
            </a:pPr>
            <a:r>
              <a:rPr lang="en-US" sz="2800" b="1" dirty="0">
                <a:solidFill>
                  <a:schemeClr val="tx1"/>
                </a:solidFill>
                <a:latin typeface="Arial" panose="020B0604020202020204" pitchFamily="34" charset="0"/>
                <a:cs typeface="Arial" panose="020B0604020202020204" pitchFamily="34" charset="0"/>
              </a:rPr>
              <a:t>1. </a:t>
            </a:r>
            <a:r>
              <a:rPr sz="2800" b="1" dirty="0" err="1">
                <a:solidFill>
                  <a:schemeClr val="tx1"/>
                </a:solidFill>
                <a:latin typeface="Arial" panose="020B0604020202020204" pitchFamily="34" charset="0"/>
                <a:cs typeface="Arial" panose="020B0604020202020204" pitchFamily="34" charset="0"/>
              </a:rPr>
              <a:t>Ưu</a:t>
            </a:r>
            <a:r>
              <a:rPr sz="2800" b="1" dirty="0">
                <a:solidFill>
                  <a:schemeClr val="tx1"/>
                </a:solidFill>
                <a:latin typeface="Arial" panose="020B0604020202020204" pitchFamily="34" charset="0"/>
                <a:cs typeface="Arial" panose="020B0604020202020204" pitchFamily="34" charset="0"/>
              </a:rPr>
              <a:t> </a:t>
            </a:r>
            <a:r>
              <a:rPr sz="2800" b="1" dirty="0" err="1">
                <a:solidFill>
                  <a:schemeClr val="tx1"/>
                </a:solidFill>
                <a:latin typeface="Arial" panose="020B0604020202020204" pitchFamily="34" charset="0"/>
                <a:cs typeface="Arial" panose="020B0604020202020204" pitchFamily="34" charset="0"/>
              </a:rPr>
              <a:t>điểm</a:t>
            </a:r>
            <a:endParaRPr lang="en-US" sz="2800" b="1" dirty="0">
              <a:solidFill>
                <a:schemeClr val="tx1"/>
              </a:solidFill>
              <a:latin typeface="Arial" panose="020B0604020202020204" pitchFamily="34" charset="0"/>
              <a:cs typeface="Arial" panose="020B0604020202020204" pitchFamily="34" charset="0"/>
            </a:endParaRPr>
          </a:p>
          <a:p>
            <a:pPr>
              <a:lnSpc>
                <a:spcPct val="160000"/>
              </a:lnSpc>
              <a:spcBef>
                <a:spcPts val="600"/>
              </a:spcBef>
              <a:spcAft>
                <a:spcPts val="600"/>
              </a:spcAft>
            </a:pPr>
            <a:r>
              <a:rPr lang="vi-VN" sz="2200" dirty="0" err="1">
                <a:solidFill>
                  <a:schemeClr val="tx1"/>
                </a:solidFill>
                <a:latin typeface="Arial" panose="020B0604020202020204" pitchFamily="34" charset="0"/>
                <a:cs typeface="Arial" panose="020B0604020202020204" pitchFamily="34" charset="0"/>
              </a:rPr>
              <a:t>Chatbot</a:t>
            </a:r>
            <a:r>
              <a:rPr lang="vi-VN" sz="2200" dirty="0">
                <a:solidFill>
                  <a:schemeClr val="tx1"/>
                </a:solidFill>
                <a:latin typeface="Arial" panose="020B0604020202020204" pitchFamily="34" charset="0"/>
                <a:cs typeface="Arial" panose="020B0604020202020204" pitchFamily="34" charset="0"/>
              </a:rPr>
              <a:t> hỗ trợ tư vấn học vụ tự động 24/7, không phụ thuộc thời gian hành chính.</a:t>
            </a:r>
          </a:p>
          <a:p>
            <a:pPr>
              <a:lnSpc>
                <a:spcPct val="160000"/>
              </a:lnSpc>
              <a:spcBef>
                <a:spcPts val="600"/>
              </a:spcBef>
              <a:spcAft>
                <a:spcPts val="600"/>
              </a:spcAft>
            </a:pPr>
            <a:r>
              <a:rPr lang="vi-VN" sz="2200" dirty="0">
                <a:solidFill>
                  <a:schemeClr val="tx1"/>
                </a:solidFill>
                <a:latin typeface="Arial" panose="020B0604020202020204" pitchFamily="34" charset="0"/>
                <a:cs typeface="Arial" panose="020B0604020202020204" pitchFamily="34" charset="0"/>
              </a:rPr>
              <a:t>Giao diện thân thiện, dễ sử dụng, phù hợp với đối tượng sinh viên.</a:t>
            </a:r>
          </a:p>
          <a:p>
            <a:pPr>
              <a:lnSpc>
                <a:spcPct val="160000"/>
              </a:lnSpc>
              <a:spcBef>
                <a:spcPts val="600"/>
              </a:spcBef>
              <a:spcAft>
                <a:spcPts val="600"/>
              </a:spcAft>
            </a:pPr>
            <a:r>
              <a:rPr lang="vi-VN" sz="2200" dirty="0">
                <a:solidFill>
                  <a:schemeClr val="tx1"/>
                </a:solidFill>
                <a:latin typeface="Arial" panose="020B0604020202020204" pitchFamily="34" charset="0"/>
                <a:cs typeface="Arial" panose="020B0604020202020204" pitchFamily="34" charset="0"/>
              </a:rPr>
              <a:t>Ứng dụng nền tảng </a:t>
            </a:r>
            <a:r>
              <a:rPr lang="vi-VN" sz="2200" dirty="0" err="1">
                <a:solidFill>
                  <a:schemeClr val="tx1"/>
                </a:solidFill>
                <a:latin typeface="Arial" panose="020B0604020202020204" pitchFamily="34" charset="0"/>
                <a:cs typeface="Arial" panose="020B0604020202020204" pitchFamily="34" charset="0"/>
              </a:rPr>
              <a:t>Rasa</a:t>
            </a:r>
            <a:r>
              <a:rPr lang="vi-VN" sz="2200" dirty="0">
                <a:solidFill>
                  <a:schemeClr val="tx1"/>
                </a:solidFill>
                <a:latin typeface="Arial" panose="020B0604020202020204" pitchFamily="34" charset="0"/>
                <a:cs typeface="Arial" panose="020B0604020202020204" pitchFamily="34" charset="0"/>
              </a:rPr>
              <a:t> mã nguồn mở, dễ mở rộng và tùy biến.</a:t>
            </a:r>
          </a:p>
          <a:p>
            <a:pPr>
              <a:lnSpc>
                <a:spcPct val="160000"/>
              </a:lnSpc>
              <a:spcBef>
                <a:spcPts val="600"/>
              </a:spcBef>
              <a:spcAft>
                <a:spcPts val="600"/>
              </a:spcAft>
            </a:pPr>
            <a:r>
              <a:rPr lang="vi-VN" sz="2200" dirty="0">
                <a:solidFill>
                  <a:schemeClr val="tx1"/>
                </a:solidFill>
                <a:latin typeface="Arial" panose="020B0604020202020204" pitchFamily="34" charset="0"/>
                <a:cs typeface="Arial" panose="020B0604020202020204" pitchFamily="34" charset="0"/>
              </a:rPr>
              <a:t>Góp phần giảm tải công việc cho cán bộ học vụ và nâng cao trải nghiệm sinh viên.</a:t>
            </a:r>
          </a:p>
          <a:p>
            <a:pPr marL="400050" lvl="1" indent="0">
              <a:lnSpc>
                <a:spcPct val="160000"/>
              </a:lnSpc>
              <a:spcBef>
                <a:spcPts val="600"/>
              </a:spcBef>
              <a:spcAft>
                <a:spcPts val="600"/>
              </a:spcAft>
              <a:buNone/>
            </a:pPr>
            <a:endParaRPr sz="2200" b="1" dirty="0">
              <a:solidFill>
                <a:schemeClr val="tx1"/>
              </a:solidFill>
              <a:latin typeface="Arial" panose="020B0604020202020204" pitchFamily="34" charset="0"/>
              <a:cs typeface="Arial" panose="020B06040202020202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5FE65-B4F5-5343-5AA8-A9CC32A3C3E3}"/>
              </a:ext>
            </a:extLst>
          </p:cNvPr>
          <p:cNvSpPr>
            <a:spLocks noGrp="1"/>
          </p:cNvSpPr>
          <p:nvPr>
            <p:ph type="title"/>
          </p:nvPr>
        </p:nvSpPr>
        <p:spPr>
          <a:xfrm>
            <a:off x="4916" y="274638"/>
            <a:ext cx="8229600" cy="1143000"/>
          </a:xfrm>
        </p:spPr>
        <p:txBody>
          <a:bodyPr/>
          <a:lstStyle/>
          <a:p>
            <a:r>
              <a:rPr lang="vi-VN" b="1" dirty="0">
                <a:solidFill>
                  <a:srgbClr val="000000"/>
                </a:solidFill>
                <a:latin typeface="+mn-lt"/>
                <a:ea typeface="Tahoma Bold"/>
                <a:cs typeface="Tahoma Bold"/>
                <a:sym typeface="Tahoma Bold"/>
              </a:rPr>
              <a:t>V. </a:t>
            </a:r>
            <a:r>
              <a:rPr lang="en-US" b="1" dirty="0" err="1">
                <a:solidFill>
                  <a:srgbClr val="000000"/>
                </a:solidFill>
                <a:latin typeface="+mn-lt"/>
                <a:ea typeface="Tahoma Bold"/>
                <a:cs typeface="Tahoma Bold"/>
                <a:sym typeface="Tahoma Bold"/>
              </a:rPr>
              <a:t>Ưu</a:t>
            </a:r>
            <a:r>
              <a:rPr lang="en-US" b="1" dirty="0">
                <a:solidFill>
                  <a:srgbClr val="000000"/>
                </a:solidFill>
                <a:latin typeface="+mn-lt"/>
                <a:ea typeface="Tahoma Bold"/>
                <a:cs typeface="Tahoma Bold"/>
                <a:sym typeface="Tahoma Bold"/>
              </a:rPr>
              <a:t> </a:t>
            </a:r>
            <a:r>
              <a:rPr lang="en-US" b="1" dirty="0" err="1">
                <a:solidFill>
                  <a:srgbClr val="000000"/>
                </a:solidFill>
                <a:latin typeface="+mn-lt"/>
                <a:ea typeface="Tahoma Bold"/>
                <a:cs typeface="Tahoma Bold"/>
                <a:sym typeface="Tahoma Bold"/>
              </a:rPr>
              <a:t>điểm</a:t>
            </a:r>
            <a:r>
              <a:rPr lang="en-US" b="1" dirty="0">
                <a:solidFill>
                  <a:srgbClr val="000000"/>
                </a:solidFill>
                <a:latin typeface="+mn-lt"/>
                <a:ea typeface="Tahoma Bold"/>
                <a:cs typeface="Tahoma Bold"/>
                <a:sym typeface="Tahoma Bold"/>
              </a:rPr>
              <a:t> </a:t>
            </a:r>
            <a:r>
              <a:rPr lang="en-US" b="1" dirty="0" err="1">
                <a:solidFill>
                  <a:srgbClr val="000000"/>
                </a:solidFill>
                <a:latin typeface="+mn-lt"/>
                <a:ea typeface="Tahoma Bold"/>
                <a:cs typeface="Tahoma Bold"/>
                <a:sym typeface="Tahoma Bold"/>
              </a:rPr>
              <a:t>và</a:t>
            </a:r>
            <a:r>
              <a:rPr lang="en-US" b="1" dirty="0">
                <a:solidFill>
                  <a:srgbClr val="000000"/>
                </a:solidFill>
                <a:latin typeface="+mn-lt"/>
                <a:ea typeface="Tahoma Bold"/>
                <a:cs typeface="Tahoma Bold"/>
                <a:sym typeface="Tahoma Bold"/>
              </a:rPr>
              <a:t> </a:t>
            </a:r>
            <a:r>
              <a:rPr lang="en-US" b="1" dirty="0" err="1">
                <a:solidFill>
                  <a:srgbClr val="000000"/>
                </a:solidFill>
                <a:latin typeface="+mn-lt"/>
                <a:ea typeface="Tahoma Bold"/>
                <a:cs typeface="Tahoma Bold"/>
                <a:sym typeface="Tahoma Bold"/>
              </a:rPr>
              <a:t>nhược</a:t>
            </a:r>
            <a:r>
              <a:rPr lang="en-US" b="1" dirty="0">
                <a:solidFill>
                  <a:srgbClr val="000000"/>
                </a:solidFill>
                <a:latin typeface="+mn-lt"/>
                <a:ea typeface="Tahoma Bold"/>
                <a:cs typeface="Tahoma Bold"/>
                <a:sym typeface="Tahoma Bold"/>
              </a:rPr>
              <a:t> </a:t>
            </a:r>
            <a:r>
              <a:rPr lang="en-US" b="1" dirty="0" err="1">
                <a:solidFill>
                  <a:srgbClr val="000000"/>
                </a:solidFill>
                <a:latin typeface="+mn-lt"/>
                <a:ea typeface="Tahoma Bold"/>
                <a:cs typeface="Tahoma Bold"/>
                <a:sym typeface="Tahoma Bold"/>
              </a:rPr>
              <a:t>điểm</a:t>
            </a:r>
            <a:endParaRPr lang="en-US" dirty="0">
              <a:latin typeface="+mn-lt"/>
            </a:endParaRPr>
          </a:p>
        </p:txBody>
      </p:sp>
      <p:sp>
        <p:nvSpPr>
          <p:cNvPr id="3" name="Content Placeholder 2">
            <a:extLst>
              <a:ext uri="{FF2B5EF4-FFF2-40B4-BE49-F238E27FC236}">
                <a16:creationId xmlns:a16="http://schemas.microsoft.com/office/drawing/2014/main" id="{62F54E98-5F05-55B4-C3E4-C82B89AE42C8}"/>
              </a:ext>
            </a:extLst>
          </p:cNvPr>
          <p:cNvSpPr>
            <a:spLocks noGrp="1"/>
          </p:cNvSpPr>
          <p:nvPr>
            <p:ph idx="1"/>
          </p:nvPr>
        </p:nvSpPr>
        <p:spPr>
          <a:xfrm>
            <a:off x="306494" y="1115582"/>
            <a:ext cx="8229600" cy="3880773"/>
          </a:xfrm>
        </p:spPr>
        <p:txBody>
          <a:bodyPr>
            <a:noAutofit/>
          </a:bodyPr>
          <a:lstStyle/>
          <a:p>
            <a:pPr marL="0" indent="0">
              <a:lnSpc>
                <a:spcPct val="150000"/>
              </a:lnSpc>
              <a:spcBef>
                <a:spcPts val="600"/>
              </a:spcBef>
              <a:spcAft>
                <a:spcPts val="600"/>
              </a:spcAft>
              <a:buNone/>
            </a:pPr>
            <a:r>
              <a:rPr lang="en-US" sz="2800" b="1" dirty="0">
                <a:solidFill>
                  <a:schemeClr val="tx1"/>
                </a:solidFill>
                <a:latin typeface="Arial" panose="020B0604020202020204" pitchFamily="34" charset="0"/>
                <a:cs typeface="Arial" panose="020B0604020202020204" pitchFamily="34" charset="0"/>
              </a:rPr>
              <a:t>2. </a:t>
            </a:r>
            <a:r>
              <a:rPr lang="en-US" sz="2800" b="1" dirty="0" err="1">
                <a:solidFill>
                  <a:schemeClr val="tx1"/>
                </a:solidFill>
                <a:latin typeface="Arial" panose="020B0604020202020204" pitchFamily="34" charset="0"/>
                <a:cs typeface="Arial" panose="020B0604020202020204" pitchFamily="34" charset="0"/>
              </a:rPr>
              <a:t>Nhược</a:t>
            </a:r>
            <a:r>
              <a:rPr lang="en-US" sz="2800" b="1" dirty="0">
                <a:solidFill>
                  <a:schemeClr val="tx1"/>
                </a:solidFill>
                <a:latin typeface="Arial" panose="020B0604020202020204" pitchFamily="34" charset="0"/>
                <a:cs typeface="Arial" panose="020B0604020202020204" pitchFamily="34" charset="0"/>
              </a:rPr>
              <a:t> </a:t>
            </a:r>
            <a:r>
              <a:rPr lang="en-US" sz="2800" b="1" dirty="0" err="1">
                <a:solidFill>
                  <a:schemeClr val="tx1"/>
                </a:solidFill>
                <a:latin typeface="Arial" panose="020B0604020202020204" pitchFamily="34" charset="0"/>
                <a:cs typeface="Arial" panose="020B0604020202020204" pitchFamily="34" charset="0"/>
              </a:rPr>
              <a:t>điểm</a:t>
            </a:r>
            <a:endParaRPr lang="en-US" altLang="en-US" sz="2800" b="1" dirty="0">
              <a:solidFill>
                <a:schemeClr val="tx1"/>
              </a:solidFill>
              <a:latin typeface="Arial" panose="020B0604020202020204" pitchFamily="34" charset="0"/>
              <a:cs typeface="Arial" panose="020B0604020202020204" pitchFamily="34" charset="0"/>
            </a:endParaRPr>
          </a:p>
          <a:p>
            <a:pPr marL="0" indent="0" defTabSz="914400" eaLnBrk="0" fontAlgn="base" hangingPunct="0">
              <a:lnSpc>
                <a:spcPct val="150000"/>
              </a:lnSpc>
              <a:spcBef>
                <a:spcPts val="600"/>
              </a:spcBef>
              <a:spcAft>
                <a:spcPts val="600"/>
              </a:spcAft>
              <a:buNone/>
            </a:pPr>
            <a:r>
              <a:rPr lang="en-US" altLang="en-US" sz="2200" dirty="0">
                <a:solidFill>
                  <a:schemeClr val="tx1"/>
                </a:solidFill>
                <a:latin typeface="Arial" panose="020B0604020202020204" pitchFamily="34" charset="0"/>
                <a:cs typeface="Arial" panose="020B0604020202020204" pitchFamily="34" charset="0"/>
              </a:rPr>
              <a:t>-</a:t>
            </a:r>
            <a:r>
              <a:rPr lang="en-US" altLang="en-US" sz="2200" b="1" dirty="0">
                <a:solidFill>
                  <a:schemeClr val="tx1"/>
                </a:solidFill>
                <a:latin typeface="Arial" panose="020B0604020202020204" pitchFamily="34" charset="0"/>
                <a:cs typeface="Arial" panose="020B0604020202020204" pitchFamily="34" charset="0"/>
              </a:rPr>
              <a:t> </a:t>
            </a:r>
            <a:r>
              <a:rPr lang="en-US" altLang="en-US" sz="2200" dirty="0">
                <a:solidFill>
                  <a:schemeClr val="tx1"/>
                </a:solidFill>
                <a:latin typeface="Arial" panose="020B0604020202020204" pitchFamily="34" charset="0"/>
                <a:cs typeface="Arial" panose="020B0604020202020204" pitchFamily="34" charset="0"/>
              </a:rPr>
              <a:t>Phạm vi </a:t>
            </a:r>
            <a:r>
              <a:rPr lang="en-US" altLang="en-US" sz="2200" dirty="0" err="1">
                <a:solidFill>
                  <a:schemeClr val="tx1"/>
                </a:solidFill>
                <a:latin typeface="Arial" panose="020B0604020202020204" pitchFamily="34" charset="0"/>
                <a:cs typeface="Arial" panose="020B0604020202020204" pitchFamily="34" charset="0"/>
              </a:rPr>
              <a:t>tư</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vấn</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còn</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giới</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hạn</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chủ</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yếu</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hỗ</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trợ</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các</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nội</a:t>
            </a:r>
            <a:r>
              <a:rPr lang="en-US" altLang="en-US" sz="2200" dirty="0">
                <a:solidFill>
                  <a:schemeClr val="tx1"/>
                </a:solidFill>
                <a:latin typeface="Arial" panose="020B0604020202020204" pitchFamily="34" charset="0"/>
                <a:cs typeface="Arial" panose="020B0604020202020204" pitchFamily="34" charset="0"/>
              </a:rPr>
              <a:t> dung </a:t>
            </a:r>
            <a:r>
              <a:rPr lang="en-US" altLang="en-US" sz="2200" dirty="0" err="1">
                <a:solidFill>
                  <a:schemeClr val="tx1"/>
                </a:solidFill>
                <a:latin typeface="Arial" panose="020B0604020202020204" pitchFamily="34" charset="0"/>
                <a:cs typeface="Arial" panose="020B0604020202020204" pitchFamily="34" charset="0"/>
              </a:rPr>
              <a:t>học</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vụ</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cơ</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bản</a:t>
            </a:r>
            <a:r>
              <a:rPr lang="en-US" altLang="en-US" sz="2200" dirty="0">
                <a:solidFill>
                  <a:schemeClr val="tx1"/>
                </a:solidFill>
                <a:latin typeface="Arial" panose="020B0604020202020204" pitchFamily="34" charset="0"/>
                <a:cs typeface="Arial" panose="020B0604020202020204" pitchFamily="34" charset="0"/>
              </a:rPr>
              <a:t>.</a:t>
            </a:r>
          </a:p>
          <a:p>
            <a:pPr marL="0" indent="0" defTabSz="914400" eaLnBrk="0" fontAlgn="base" hangingPunct="0">
              <a:lnSpc>
                <a:spcPct val="150000"/>
              </a:lnSpc>
              <a:spcBef>
                <a:spcPts val="600"/>
              </a:spcBef>
              <a:spcAft>
                <a:spcPts val="600"/>
              </a:spcAft>
              <a:buNone/>
            </a:pP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Độ</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chính</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xác</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phụ</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thuộc</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nhiều</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vào</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chất</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lượng</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dữ</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liệu</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huấn</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luyện</a:t>
            </a:r>
            <a:r>
              <a:rPr lang="en-US" altLang="en-US" sz="2200" dirty="0">
                <a:solidFill>
                  <a:schemeClr val="tx1"/>
                </a:solidFill>
                <a:latin typeface="Arial" panose="020B0604020202020204" pitchFamily="34" charset="0"/>
                <a:cs typeface="Arial" panose="020B0604020202020204" pitchFamily="34" charset="0"/>
              </a:rPr>
              <a:t>.</a:t>
            </a:r>
          </a:p>
          <a:p>
            <a:pPr marL="0" indent="0" defTabSz="914400" eaLnBrk="0" fontAlgn="base" hangingPunct="0">
              <a:lnSpc>
                <a:spcPct val="150000"/>
              </a:lnSpc>
              <a:spcBef>
                <a:spcPts val="600"/>
              </a:spcBef>
              <a:spcAft>
                <a:spcPts val="600"/>
              </a:spcAft>
              <a:buNone/>
            </a:pP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Khả</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năng</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hiểu</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ngôn</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ngữ</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tự</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nhiên</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còn</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hạn</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chế</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với</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câu</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hỏi</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phức</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tạp</a:t>
            </a:r>
            <a:r>
              <a:rPr lang="en-US" altLang="en-US" sz="2200" dirty="0">
                <a:solidFill>
                  <a:schemeClr val="tx1"/>
                </a:solidFill>
                <a:latin typeface="Arial" panose="020B0604020202020204" pitchFamily="34" charset="0"/>
                <a:cs typeface="Arial" panose="020B0604020202020204" pitchFamily="34" charset="0"/>
              </a:rPr>
              <a:t>.</a:t>
            </a:r>
          </a:p>
          <a:p>
            <a:pPr marL="0" indent="0" defTabSz="914400" eaLnBrk="0" fontAlgn="base" hangingPunct="0">
              <a:lnSpc>
                <a:spcPct val="150000"/>
              </a:lnSpc>
              <a:spcBef>
                <a:spcPts val="600"/>
              </a:spcBef>
              <a:spcAft>
                <a:spcPts val="600"/>
              </a:spcAft>
              <a:buNone/>
            </a:pP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Chưa</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tích</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hợp</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trực</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tiếp</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với</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hệ</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thống</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quản</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lý</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đào</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tạo</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của</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nhà</a:t>
            </a:r>
            <a:r>
              <a:rPr lang="en-US" altLang="en-US" sz="2200" dirty="0">
                <a:solidFill>
                  <a:schemeClr val="tx1"/>
                </a:solidFill>
                <a:latin typeface="Arial" panose="020B0604020202020204" pitchFamily="34" charset="0"/>
                <a:cs typeface="Arial" panose="020B0604020202020204" pitchFamily="34" charset="0"/>
              </a:rPr>
              <a:t> </a:t>
            </a:r>
            <a:r>
              <a:rPr lang="en-US" altLang="en-US" sz="2200" dirty="0" err="1">
                <a:solidFill>
                  <a:schemeClr val="tx1"/>
                </a:solidFill>
                <a:latin typeface="Arial" panose="020B0604020202020204" pitchFamily="34" charset="0"/>
                <a:cs typeface="Arial" panose="020B0604020202020204" pitchFamily="34" charset="0"/>
              </a:rPr>
              <a:t>trường</a:t>
            </a:r>
            <a:r>
              <a:rPr lang="en-US" altLang="en-US" sz="2200" dirty="0">
                <a:solidFill>
                  <a:schemeClr val="tx1"/>
                </a:solidFill>
                <a:latin typeface="Arial" panose="020B0604020202020204" pitchFamily="34" charset="0"/>
                <a:cs typeface="Arial" panose="020B0604020202020204" pitchFamily="34" charset="0"/>
              </a:rPr>
              <a:t>.</a:t>
            </a:r>
          </a:p>
          <a:p>
            <a:pPr marL="0" indent="0">
              <a:lnSpc>
                <a:spcPct val="150000"/>
              </a:lnSpc>
              <a:spcBef>
                <a:spcPts val="600"/>
              </a:spcBef>
              <a:spcAft>
                <a:spcPts val="600"/>
              </a:spcAft>
              <a:buNone/>
            </a:pPr>
            <a:endParaRPr lang="en-US" sz="2200" b="1" dirty="0">
              <a:solidFill>
                <a:schemeClr val="tx1"/>
              </a:solidFill>
              <a:latin typeface="Arial" panose="020B0604020202020204" pitchFamily="34" charset="0"/>
              <a:cs typeface="Arial" panose="020B0604020202020204" pitchFamily="34" charset="0"/>
            </a:endParaRPr>
          </a:p>
        </p:txBody>
      </p:sp>
      <p:sp>
        <p:nvSpPr>
          <p:cNvPr id="5" name="Rectangle 2">
            <a:extLst>
              <a:ext uri="{FF2B5EF4-FFF2-40B4-BE49-F238E27FC236}">
                <a16:creationId xmlns:a16="http://schemas.microsoft.com/office/drawing/2014/main" id="{3925972B-2680-0FB2-D4F7-1BD51213D125}"/>
              </a:ext>
            </a:extLst>
          </p:cNvPr>
          <p:cNvSpPr>
            <a:spLocks noChangeArrowheads="1"/>
          </p:cNvSpPr>
          <p:nvPr/>
        </p:nvSpPr>
        <p:spPr bwMode="auto">
          <a:xfrm>
            <a:off x="0" y="-184666"/>
            <a:ext cx="306494"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20574162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C834775-CBE1-8027-ECF7-74A0737492AA}"/>
              </a:ext>
            </a:extLst>
          </p:cNvPr>
          <p:cNvSpPr>
            <a:spLocks noGrp="1"/>
          </p:cNvSpPr>
          <p:nvPr>
            <p:ph idx="1"/>
          </p:nvPr>
        </p:nvSpPr>
        <p:spPr>
          <a:xfrm>
            <a:off x="-716973" y="1682607"/>
            <a:ext cx="10872356" cy="3880773"/>
          </a:xfrm>
        </p:spPr>
        <p:txBody>
          <a:bodyPr>
            <a:normAutofit/>
          </a:bodyPr>
          <a:lstStyle/>
          <a:p>
            <a:pPr marL="0" indent="0" algn="ctr">
              <a:lnSpc>
                <a:spcPts val="7365"/>
              </a:lnSpc>
              <a:buNone/>
            </a:pPr>
            <a:r>
              <a:rPr lang="en-US" sz="3600" b="1" spc="249" dirty="0">
                <a:solidFill>
                  <a:schemeClr val="tx1"/>
                </a:solidFill>
                <a:latin typeface="Arial" panose="020B0604020202020204" pitchFamily="34" charset="0"/>
                <a:ea typeface="Tahoma Bold"/>
                <a:cs typeface="Arial" panose="020B0604020202020204" pitchFamily="34" charset="0"/>
                <a:sym typeface="Tahoma Bold"/>
              </a:rPr>
              <a:t>C</a:t>
            </a:r>
            <a:r>
              <a:rPr lang="vi-VN" sz="3600" b="1" spc="249" dirty="0">
                <a:solidFill>
                  <a:schemeClr val="tx1"/>
                </a:solidFill>
                <a:latin typeface="Arial" panose="020B0604020202020204" pitchFamily="34" charset="0"/>
                <a:ea typeface="Tahoma Bold"/>
                <a:cs typeface="Arial" panose="020B0604020202020204" pitchFamily="34" charset="0"/>
                <a:sym typeface="Tahoma Bold"/>
              </a:rPr>
              <a:t>ẢM ƠN QUÝ THẦY CÔ </a:t>
            </a:r>
            <a:endParaRPr lang="en-US" sz="3600" b="1" spc="253" dirty="0">
              <a:solidFill>
                <a:schemeClr val="tx1"/>
              </a:solidFill>
              <a:latin typeface="Arial" panose="020B0604020202020204" pitchFamily="34" charset="0"/>
              <a:ea typeface="Tahoma Bold"/>
              <a:cs typeface="Arial" panose="020B0604020202020204" pitchFamily="34" charset="0"/>
              <a:sym typeface="Tahoma Bold"/>
            </a:endParaRPr>
          </a:p>
          <a:p>
            <a:pPr marL="0" indent="0" algn="ctr">
              <a:lnSpc>
                <a:spcPts val="7365"/>
              </a:lnSpc>
              <a:buNone/>
            </a:pPr>
            <a:r>
              <a:rPr lang="vi-VN" sz="3600" b="1" spc="253" dirty="0">
                <a:solidFill>
                  <a:schemeClr val="tx1"/>
                </a:solidFill>
                <a:latin typeface="Arial" panose="020B0604020202020204" pitchFamily="34" charset="0"/>
                <a:ea typeface="Tahoma Bold"/>
                <a:cs typeface="Arial" panose="020B0604020202020204" pitchFamily="34" charset="0"/>
                <a:sym typeface="Tahoma Bold"/>
              </a:rPr>
              <a:t>ĐÃ LẮNG NGHE</a:t>
            </a:r>
            <a:r>
              <a:rPr lang="en-US" sz="3600" b="1" spc="253" dirty="0">
                <a:solidFill>
                  <a:schemeClr val="tx1"/>
                </a:solidFill>
                <a:latin typeface="Arial" panose="020B0604020202020204" pitchFamily="34" charset="0"/>
                <a:ea typeface="Tahoma Bold"/>
                <a:cs typeface="Arial" panose="020B0604020202020204" pitchFamily="34" charset="0"/>
                <a:sym typeface="Tahoma Bold"/>
              </a:rPr>
              <a:t>!</a:t>
            </a:r>
            <a:endParaRPr lang="vi-VN" sz="3600" b="1" spc="253" dirty="0">
              <a:solidFill>
                <a:schemeClr val="tx1"/>
              </a:solidFill>
              <a:latin typeface="Arial" panose="020B0604020202020204" pitchFamily="34" charset="0"/>
              <a:ea typeface="Tahoma Bold"/>
              <a:cs typeface="Arial" panose="020B0604020202020204" pitchFamily="34" charset="0"/>
              <a:sym typeface="Tahoma Bold"/>
            </a:endParaRPr>
          </a:p>
          <a:p>
            <a:pPr marL="0" indent="0">
              <a:buNone/>
            </a:pPr>
            <a:endParaRPr lang="en-US"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51983561"/>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73</TotalTime>
  <Words>827</Words>
  <Application>Microsoft Office PowerPoint</Application>
  <PresentationFormat>On-screen Show (4:3)</PresentationFormat>
  <Paragraphs>65</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Aptos</vt:lpstr>
      <vt:lpstr>Arial</vt:lpstr>
      <vt:lpstr>Tahoma</vt:lpstr>
      <vt:lpstr>Tahoma Bold</vt:lpstr>
      <vt:lpstr>Trebuchet MS</vt:lpstr>
      <vt:lpstr>Wingdings 3</vt:lpstr>
      <vt:lpstr>Facet</vt:lpstr>
      <vt:lpstr>TÌM HIỂU RASA VÀ XÂY DỰNG CHATBOT TƯ VẤN HỌC VỤ CHO  SINH VIÊN TRƯỜNG ĐẠI HỌC TRÀ  VINH</vt:lpstr>
      <vt:lpstr>PowerPoint Presentation</vt:lpstr>
      <vt:lpstr>I. Lý do chọn đề tài</vt:lpstr>
      <vt:lpstr>II. Lý thuyết </vt:lpstr>
      <vt:lpstr>III. Kết quả đạt được</vt:lpstr>
      <vt:lpstr>III. Kết quả đạt được</vt:lpstr>
      <vt:lpstr>III. Kết quả đạt được</vt:lpstr>
      <vt:lpstr>III. Kết quả đạt được</vt:lpstr>
      <vt:lpstr>IV. HƯỚNG PHÁT TRIỂN</vt:lpstr>
      <vt:lpstr>V. Ưu điểm và nhược điểm</vt:lpstr>
      <vt:lpstr>V. Ưu điểm và nhược điểm</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nguyen thuong</cp:lastModifiedBy>
  <cp:revision>3</cp:revision>
  <dcterms:created xsi:type="dcterms:W3CDTF">2013-01-27T09:14:16Z</dcterms:created>
  <dcterms:modified xsi:type="dcterms:W3CDTF">2026-01-16T16:38:47Z</dcterms:modified>
  <cp:category/>
</cp:coreProperties>
</file>